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901" r:id="rId5"/>
    <p:sldId id="909" r:id="rId6"/>
    <p:sldId id="935" r:id="rId7"/>
    <p:sldId id="903" r:id="rId8"/>
    <p:sldId id="904" r:id="rId9"/>
    <p:sldId id="905" r:id="rId10"/>
    <p:sldId id="906" r:id="rId11"/>
    <p:sldId id="907" r:id="rId12"/>
    <p:sldId id="919" r:id="rId13"/>
    <p:sldId id="908" r:id="rId14"/>
    <p:sldId id="911" r:id="rId15"/>
    <p:sldId id="912" r:id="rId16"/>
    <p:sldId id="913" r:id="rId17"/>
    <p:sldId id="914" r:id="rId18"/>
    <p:sldId id="915" r:id="rId19"/>
    <p:sldId id="916" r:id="rId20"/>
    <p:sldId id="917" r:id="rId21"/>
    <p:sldId id="918" r:id="rId22"/>
    <p:sldId id="920" r:id="rId23"/>
    <p:sldId id="921" r:id="rId24"/>
    <p:sldId id="922" r:id="rId25"/>
    <p:sldId id="923" r:id="rId26"/>
    <p:sldId id="924" r:id="rId27"/>
    <p:sldId id="925" r:id="rId28"/>
    <p:sldId id="926" r:id="rId29"/>
    <p:sldId id="933" r:id="rId30"/>
    <p:sldId id="928" r:id="rId31"/>
    <p:sldId id="934" r:id="rId32"/>
    <p:sldId id="929" r:id="rId33"/>
    <p:sldId id="930" r:id="rId34"/>
    <p:sldId id="878" r:id="rId35"/>
  </p:sldIdLst>
  <p:sldSz cx="12192000" cy="6858000"/>
  <p:notesSz cx="6797675" cy="9872663"/>
  <p:embeddedFontLst>
    <p:embeddedFont>
      <p:font typeface="Arial Nova Cond" panose="020B0506020202020204" pitchFamily="34" charset="0"/>
      <p:regular r:id="rId38"/>
      <p:bold r:id="rId39"/>
      <p:italic r:id="rId40"/>
      <p:boldItalic r:id="rId41"/>
    </p:embeddedFont>
    <p:embeddedFont>
      <p:font typeface="Bodoni MT Black" panose="02070A03080606020203" pitchFamily="18" charset="0"/>
      <p:bold r:id="rId42"/>
      <p:boldItalic r:id="rId43"/>
    </p:embeddedFont>
    <p:embeddedFont>
      <p:font typeface="Inter Light" panose="020B0604020202020204" charset="0"/>
      <p:regular r:id="rId44"/>
      <p:bold r:id="rId45"/>
      <p:italic r:id="rId46"/>
      <p:boldItalic r:id="rId47"/>
    </p:embeddedFont>
    <p:embeddedFont>
      <p:font typeface="Inter-Bold" panose="02000803000000020004" charset="0"/>
      <p:regular r:id="rId48"/>
      <p:bold r:id="rId49"/>
      <p:italic r:id="rId50"/>
      <p:boldItalic r:id="rId51"/>
    </p:embeddedFont>
    <p:embeddedFont>
      <p:font typeface="Poppins Light" panose="00000400000000000000" pitchFamily="2" charset="0"/>
      <p:regular r:id="rId52"/>
      <p:italic r:id="rId53"/>
    </p:embeddedFont>
  </p:embeddedFontLst>
  <p:custDataLst>
    <p:tags r:id="rId5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rick Gillard" initials="AG" lastIdx="1" clrIdx="0">
    <p:extLst>
      <p:ext uri="{19B8F6BF-5375-455C-9EA6-DF929625EA0E}">
        <p15:presenceInfo xmlns:p15="http://schemas.microsoft.com/office/powerpoint/2012/main" userId="Alrick Gillar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52"/>
    <a:srgbClr val="722F85"/>
    <a:srgbClr val="336699"/>
    <a:srgbClr val="CD3166"/>
    <a:srgbClr val="D4E0DE"/>
    <a:srgbClr val="771949"/>
    <a:srgbClr val="553543"/>
    <a:srgbClr val="75495C"/>
    <a:srgbClr val="920000"/>
    <a:srgbClr val="EDD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1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54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ABB74F8-CE73-4671-9BE4-0D2936FAFE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5736C8-7435-4681-AD71-E4455B57F6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1262F-4F19-4853-A70D-C6D3E110262F}" type="datetimeFigureOut">
              <a:rPr lang="fr-FR" smtClean="0">
                <a:latin typeface="Inter-Bold" panose="02000803000000020004" pitchFamily="50" charset="0"/>
              </a:rPr>
              <a:t>27/05/2026</a:t>
            </a:fld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B6DD9A-BFF0-43FF-9AD4-FF48C32A3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Inter-Bold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46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-Bold" panose="02000803000000020004" pitchFamily="50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-Bold" panose="02000803000000020004" pitchFamily="50" charset="0"/>
              </a:defRPr>
            </a:lvl1pPr>
          </a:lstStyle>
          <a:p>
            <a:fld id="{8A84D341-1255-4F4E-9A38-8BC716D41D7E}" type="datetimeFigureOut">
              <a:rPr lang="fr-FR" smtClean="0"/>
              <a:pPr/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-Bold" panose="02000803000000020004" pitchFamily="50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-Bold" panose="02000803000000020004" pitchFamily="50" charset="0"/>
              </a:defRPr>
            </a:lvl1pPr>
          </a:lstStyle>
          <a:p>
            <a:fld id="{2C65BFF8-712E-428F-AEE7-1EC7768CE1C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7100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E02E3D6D-DD6A-4C69-8190-98737683C76E}"/>
              </a:ext>
            </a:extLst>
          </p:cNvPr>
          <p:cNvSpPr/>
          <p:nvPr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chemeClr val="accent1"/>
              </a:solidFill>
              <a:latin typeface="Inter-Bold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6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82355FEE-FE80-46EA-97E1-1EF2526A3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8A010FE-1E13-4DB3-81D4-507ED95E7EE3}"/>
              </a:ext>
            </a:extLst>
          </p:cNvPr>
          <p:cNvSpPr/>
          <p:nvPr userDrawn="1"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8011289-0803-4929-9983-0189C863AA3A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1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64FF76F-DE15-4792-9EE7-B2E8C29A2D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7659" y="2457110"/>
            <a:ext cx="7543074" cy="938222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097779"/>
            <a:ext cx="2191482" cy="894578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B890EC-D08A-4B93-B907-5E14CACC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33" y="1093769"/>
            <a:ext cx="1972008" cy="4585871"/>
          </a:xfrm>
        </p:spPr>
        <p:txBody>
          <a:bodyPr wrap="none">
            <a:noAutofit/>
          </a:bodyPr>
          <a:lstStyle>
            <a:lvl1pPr marL="0" indent="0" algn="r">
              <a:lnSpc>
                <a:spcPct val="80000"/>
              </a:lnSpc>
              <a:buNone/>
              <a:defRPr lang="fr-FR" sz="12000" kern="1200" cap="all" dirty="0">
                <a:solidFill>
                  <a:schemeClr val="bg1">
                    <a:alpha val="1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0FC526-F689-4DBE-8281-CB92AC0569A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18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35DA1CC-9DE6-4736-AF55-67DBB561F1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6094" y="3487892"/>
            <a:ext cx="7543074" cy="38768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350027"/>
            <a:ext cx="1557141" cy="635636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bg1"/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B890EC-D08A-4B93-B907-5E14CACC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33" y="1093769"/>
            <a:ext cx="1972008" cy="4585871"/>
          </a:xfrm>
        </p:spPr>
        <p:txBody>
          <a:bodyPr wrap="none">
            <a:noAutofit/>
          </a:bodyPr>
          <a:lstStyle>
            <a:lvl1pPr marL="0" indent="0" algn="r">
              <a:lnSpc>
                <a:spcPct val="80000"/>
              </a:lnSpc>
              <a:buNone/>
              <a:defRPr lang="fr-FR" sz="12000" kern="1200" cap="all" dirty="0">
                <a:solidFill>
                  <a:schemeClr val="bg1">
                    <a:alpha val="1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C953C5-2C78-468A-807B-04A094A87DFE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2B7BB-B0E5-B2A2-024E-E6A58334784F}"/>
              </a:ext>
            </a:extLst>
          </p:cNvPr>
          <p:cNvSpPr/>
          <p:nvPr userDrawn="1"/>
        </p:nvSpPr>
        <p:spPr>
          <a:xfrm>
            <a:off x="1239359" y="3885426"/>
            <a:ext cx="997111" cy="83070"/>
          </a:xfrm>
          <a:prstGeom prst="rect">
            <a:avLst/>
          </a:prstGeom>
          <a:gradFill>
            <a:gsLst>
              <a:gs pos="100000">
                <a:srgbClr val="99BFC0"/>
              </a:gs>
              <a:gs pos="0">
                <a:srgbClr val="C8175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85A7320-80C2-1F03-A3E6-B551086738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6094" y="4119417"/>
            <a:ext cx="7543074" cy="38768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lang="en-US" sz="2400" i="0" kern="1200" cap="all" baseline="0" noProof="0" dirty="0">
                <a:solidFill>
                  <a:srgbClr val="9AC0C1"/>
                </a:solidFill>
                <a:latin typeface="Poppins Light" panose="00000400000000000000" pitchFamily="2" charset="0"/>
                <a:ea typeface="Inter-Bold" panose="02000803000000020004" pitchFamily="50" charset="0"/>
                <a:cs typeface="Poppins Light" panose="00000400000000000000" pitchFamily="2" charset="0"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4268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50AAEFF-16F5-7A48-A742-A2848F62A4B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D83722B-1166-41AB-B8F7-5842AB54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E1047-C6BB-424E-A973-742C8B08E20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1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74979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B7E5A2BE-319C-5D47-92CC-2B9FEBFF19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45D87EE-B0B3-4BE8-A6C7-0B12ACA4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274E-CC31-4894-933A-CA26E639C7C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24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F9E8AE36-CC46-2B42-8034-00DBC2BD136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FFB33AEC-F888-4210-AC81-2D0EE6AF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0049F-78B1-436C-827A-1A9084648EC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24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1917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C0071C9-F4C8-4113-8787-384665FA88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20558"/>
            <a:ext cx="11931764" cy="6184247"/>
          </a:xfrm>
          <a:prstGeom prst="rect">
            <a:avLst/>
          </a:prstGeom>
        </p:spPr>
      </p:pic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8C355A8E-1E0C-4CEB-BB08-A4A6D1BAB7BB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2 w 7658286"/>
              <a:gd name="connsiteY25" fmla="*/ 0 h 6191715"/>
              <a:gd name="connsiteX26" fmla="*/ 3744373 w 7658286"/>
              <a:gd name="connsiteY26" fmla="*/ 2761511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6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2" y="0"/>
                </a:lnTo>
                <a:lnTo>
                  <a:pt x="3744373" y="2761511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6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E9543D9-D723-48F7-B692-4891D0D24FCA}"/>
              </a:ext>
            </a:extLst>
          </p:cNvPr>
          <p:cNvSpPr/>
          <p:nvPr userDrawn="1"/>
        </p:nvSpPr>
        <p:spPr>
          <a:xfrm>
            <a:off x="4652624" y="3561002"/>
            <a:ext cx="766762" cy="1357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8C66AB3-70DC-47EE-91C7-8F4BB1AA4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9016" y="1005682"/>
            <a:ext cx="9948231" cy="2186878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2EB02B55-DEF7-46F1-BE59-D836C70C68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30552" y="3413415"/>
            <a:ext cx="5221995" cy="419217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40000"/>
              </a:lnSpc>
              <a:buNone/>
              <a:defRPr sz="1700" b="1" spc="0" baseline="0">
                <a:solidFill>
                  <a:schemeClr val="bg1"/>
                </a:solidFill>
                <a:latin typeface="Arial Nova Cond" panose="020B0506020202020204" pitchFamily="34" charset="0"/>
                <a:cs typeface="Poppins SemiBold" panose="00000700000000000000" pitchFamily="2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462F722-833F-C74E-8311-4063662719A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818C225-F959-43BF-89F5-D64A75FE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90F8B95-AB96-4B54-A518-642D77C8D6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64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318926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  <a:latin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4DD614A3-0934-4756-92ED-88AFD76D5C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821" y="1476158"/>
            <a:ext cx="9785053" cy="2081488"/>
          </a:xfrm>
        </p:spPr>
        <p:txBody>
          <a:bodyPr lIns="7200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5400" b="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E9AA42-C615-49F2-9C83-7A4490A1BCB2}"/>
              </a:ext>
            </a:extLst>
          </p:cNvPr>
          <p:cNvSpPr/>
          <p:nvPr userDrawn="1"/>
        </p:nvSpPr>
        <p:spPr>
          <a:xfrm>
            <a:off x="1316531" y="3860577"/>
            <a:ext cx="766762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BE2D297B-B884-E748-91EF-1AF27C9446C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B71DFE1-6D06-436F-91AD-1E5D070E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AD1729B-B27A-4780-B400-ABF147CF110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39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3090"/>
            <a:ext cx="11519554" cy="6627130"/>
          </a:xfrm>
          <a:prstGeom prst="rect">
            <a:avLst/>
          </a:prstGeom>
        </p:spPr>
      </p:pic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120A6EBF-1E4C-4D2C-9BEC-2EE12A954383}"/>
              </a:ext>
            </a:extLst>
          </p:cNvPr>
          <p:cNvSpPr/>
          <p:nvPr userDrawn="1"/>
        </p:nvSpPr>
        <p:spPr>
          <a:xfrm>
            <a:off x="559012" y="113089"/>
            <a:ext cx="8182715" cy="6627131"/>
          </a:xfrm>
          <a:custGeom>
            <a:avLst/>
            <a:gdLst>
              <a:gd name="connsiteX0" fmla="*/ 3989811 w 8182715"/>
              <a:gd name="connsiteY0" fmla="*/ 3377589 h 6627131"/>
              <a:gd name="connsiteX1" fmla="*/ 4869546 w 8182715"/>
              <a:gd name="connsiteY1" fmla="*/ 3377589 h 6627131"/>
              <a:gd name="connsiteX2" fmla="*/ 8182715 w 8182715"/>
              <a:gd name="connsiteY2" fmla="*/ 6627131 h 6627131"/>
              <a:gd name="connsiteX3" fmla="*/ 6423483 w 8182715"/>
              <a:gd name="connsiteY3" fmla="*/ 6627131 h 6627131"/>
              <a:gd name="connsiteX4" fmla="*/ 3989811 w 8182715"/>
              <a:gd name="connsiteY4" fmla="*/ 4240106 h 6627131"/>
              <a:gd name="connsiteX5" fmla="*/ 2971493 w 8182715"/>
              <a:gd name="connsiteY5" fmla="*/ 3377215 h 6627131"/>
              <a:gd name="connsiteX6" fmla="*/ 3851228 w 8182715"/>
              <a:gd name="connsiteY6" fmla="*/ 3377215 h 6627131"/>
              <a:gd name="connsiteX7" fmla="*/ 3851228 w 8182715"/>
              <a:gd name="connsiteY7" fmla="*/ 4239733 h 6627131"/>
              <a:gd name="connsiteX8" fmla="*/ 1417010 w 8182715"/>
              <a:gd name="connsiteY8" fmla="*/ 6627131 h 6627131"/>
              <a:gd name="connsiteX9" fmla="*/ 0 w 8182715"/>
              <a:gd name="connsiteY9" fmla="*/ 6627131 h 6627131"/>
              <a:gd name="connsiteX10" fmla="*/ 0 w 8182715"/>
              <a:gd name="connsiteY10" fmla="*/ 6291776 h 6627131"/>
              <a:gd name="connsiteX11" fmla="*/ 7978888 w 8182715"/>
              <a:gd name="connsiteY11" fmla="*/ 0 h 6627131"/>
              <a:gd name="connsiteX12" fmla="*/ 8174092 w 8182715"/>
              <a:gd name="connsiteY12" fmla="*/ 0 h 6627131"/>
              <a:gd name="connsiteX13" fmla="*/ 4869191 w 8182715"/>
              <a:gd name="connsiteY13" fmla="*/ 3241529 h 6627131"/>
              <a:gd name="connsiteX14" fmla="*/ 4673870 w 8182715"/>
              <a:gd name="connsiteY14" fmla="*/ 3241529 h 6627131"/>
              <a:gd name="connsiteX15" fmla="*/ 7587818 w 8182715"/>
              <a:gd name="connsiteY15" fmla="*/ 0 h 6627131"/>
              <a:gd name="connsiteX16" fmla="*/ 7783212 w 8182715"/>
              <a:gd name="connsiteY16" fmla="*/ 0 h 6627131"/>
              <a:gd name="connsiteX17" fmla="*/ 4478336 w 8182715"/>
              <a:gd name="connsiteY17" fmla="*/ 3241600 h 6627131"/>
              <a:gd name="connsiteX18" fmla="*/ 4282783 w 8182715"/>
              <a:gd name="connsiteY18" fmla="*/ 3241600 h 6627131"/>
              <a:gd name="connsiteX19" fmla="*/ 7196794 w 8182715"/>
              <a:gd name="connsiteY19" fmla="*/ 0 h 6627131"/>
              <a:gd name="connsiteX20" fmla="*/ 7392147 w 8182715"/>
              <a:gd name="connsiteY20" fmla="*/ 0 h 6627131"/>
              <a:gd name="connsiteX21" fmla="*/ 4087089 w 8182715"/>
              <a:gd name="connsiteY21" fmla="*/ 3241583 h 6627131"/>
              <a:gd name="connsiteX22" fmla="*/ 3989384 w 8182715"/>
              <a:gd name="connsiteY22" fmla="*/ 3241583 h 6627131"/>
              <a:gd name="connsiteX23" fmla="*/ 3989384 w 8182715"/>
              <a:gd name="connsiteY23" fmla="*/ 3145837 h 6627131"/>
              <a:gd name="connsiteX24" fmla="*/ 6805676 w 8182715"/>
              <a:gd name="connsiteY24" fmla="*/ 0 h 6627131"/>
              <a:gd name="connsiteX25" fmla="*/ 7001151 w 8182715"/>
              <a:gd name="connsiteY25" fmla="*/ 0 h 6627131"/>
              <a:gd name="connsiteX26" fmla="*/ 3989509 w 8182715"/>
              <a:gd name="connsiteY26" fmla="*/ 2953916 h 6627131"/>
              <a:gd name="connsiteX27" fmla="*/ 3989509 w 8182715"/>
              <a:gd name="connsiteY27" fmla="*/ 2762264 h 6627131"/>
              <a:gd name="connsiteX28" fmla="*/ 6414717 w 8182715"/>
              <a:gd name="connsiteY28" fmla="*/ 0 h 6627131"/>
              <a:gd name="connsiteX29" fmla="*/ 6610220 w 8182715"/>
              <a:gd name="connsiteY29" fmla="*/ 0 h 6627131"/>
              <a:gd name="connsiteX30" fmla="*/ 3989456 w 8182715"/>
              <a:gd name="connsiteY30" fmla="*/ 2570415 h 6627131"/>
              <a:gd name="connsiteX31" fmla="*/ 3989456 w 8182715"/>
              <a:gd name="connsiteY31" fmla="*/ 2378708 h 6627131"/>
              <a:gd name="connsiteX32" fmla="*/ 0 w 8182715"/>
              <a:gd name="connsiteY32" fmla="*/ 0 h 6627131"/>
              <a:gd name="connsiteX33" fmla="*/ 1425861 w 8182715"/>
              <a:gd name="connsiteY33" fmla="*/ 0 h 6627131"/>
              <a:gd name="connsiteX34" fmla="*/ 3851280 w 8182715"/>
              <a:gd name="connsiteY34" fmla="*/ 2378834 h 6627131"/>
              <a:gd name="connsiteX35" fmla="*/ 3851280 w 8182715"/>
              <a:gd name="connsiteY35" fmla="*/ 3241404 h 6627131"/>
              <a:gd name="connsiteX36" fmla="*/ 2971725 w 8182715"/>
              <a:gd name="connsiteY36" fmla="*/ 3241404 h 6627131"/>
              <a:gd name="connsiteX37" fmla="*/ 0 w 8182715"/>
              <a:gd name="connsiteY37" fmla="*/ 326732 h 6627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182715" h="6627131">
                <a:moveTo>
                  <a:pt x="3989811" y="3377589"/>
                </a:moveTo>
                <a:lnTo>
                  <a:pt x="4869546" y="3377589"/>
                </a:lnTo>
                <a:lnTo>
                  <a:pt x="8182715" y="6627131"/>
                </a:lnTo>
                <a:lnTo>
                  <a:pt x="6423483" y="6627131"/>
                </a:lnTo>
                <a:lnTo>
                  <a:pt x="3989811" y="4240106"/>
                </a:lnTo>
                <a:close/>
                <a:moveTo>
                  <a:pt x="2971493" y="3377215"/>
                </a:moveTo>
                <a:lnTo>
                  <a:pt x="3851228" y="3377215"/>
                </a:lnTo>
                <a:lnTo>
                  <a:pt x="3851228" y="4239733"/>
                </a:lnTo>
                <a:lnTo>
                  <a:pt x="1417010" y="6627131"/>
                </a:lnTo>
                <a:lnTo>
                  <a:pt x="0" y="6627131"/>
                </a:lnTo>
                <a:lnTo>
                  <a:pt x="0" y="6291776"/>
                </a:lnTo>
                <a:close/>
                <a:moveTo>
                  <a:pt x="7978888" y="0"/>
                </a:moveTo>
                <a:lnTo>
                  <a:pt x="8174092" y="0"/>
                </a:lnTo>
                <a:lnTo>
                  <a:pt x="4869191" y="3241529"/>
                </a:lnTo>
                <a:lnTo>
                  <a:pt x="4673870" y="3241529"/>
                </a:lnTo>
                <a:close/>
                <a:moveTo>
                  <a:pt x="7587818" y="0"/>
                </a:moveTo>
                <a:lnTo>
                  <a:pt x="7783212" y="0"/>
                </a:lnTo>
                <a:lnTo>
                  <a:pt x="4478336" y="3241600"/>
                </a:lnTo>
                <a:lnTo>
                  <a:pt x="4282783" y="3241600"/>
                </a:lnTo>
                <a:close/>
                <a:moveTo>
                  <a:pt x="7196794" y="0"/>
                </a:moveTo>
                <a:lnTo>
                  <a:pt x="7392147" y="0"/>
                </a:lnTo>
                <a:lnTo>
                  <a:pt x="4087089" y="3241583"/>
                </a:lnTo>
                <a:lnTo>
                  <a:pt x="3989384" y="3241583"/>
                </a:lnTo>
                <a:lnTo>
                  <a:pt x="3989384" y="3145837"/>
                </a:lnTo>
                <a:close/>
                <a:moveTo>
                  <a:pt x="6805676" y="0"/>
                </a:moveTo>
                <a:lnTo>
                  <a:pt x="7001151" y="0"/>
                </a:lnTo>
                <a:lnTo>
                  <a:pt x="3989509" y="2953916"/>
                </a:lnTo>
                <a:lnTo>
                  <a:pt x="3989509" y="2762264"/>
                </a:lnTo>
                <a:close/>
                <a:moveTo>
                  <a:pt x="6414717" y="0"/>
                </a:moveTo>
                <a:lnTo>
                  <a:pt x="6610220" y="0"/>
                </a:lnTo>
                <a:lnTo>
                  <a:pt x="3989456" y="2570415"/>
                </a:lnTo>
                <a:lnTo>
                  <a:pt x="3989456" y="2378708"/>
                </a:lnTo>
                <a:close/>
                <a:moveTo>
                  <a:pt x="0" y="0"/>
                </a:moveTo>
                <a:lnTo>
                  <a:pt x="1425861" y="0"/>
                </a:lnTo>
                <a:lnTo>
                  <a:pt x="3851280" y="2378834"/>
                </a:lnTo>
                <a:lnTo>
                  <a:pt x="3851280" y="3241404"/>
                </a:lnTo>
                <a:lnTo>
                  <a:pt x="2971725" y="3241404"/>
                </a:lnTo>
                <a:lnTo>
                  <a:pt x="0" y="326732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9" name="Image 8" descr="Une image contenant personne, intérieur, utilisation&#10;&#10;Description générée automatiquement">
            <a:extLst>
              <a:ext uri="{FF2B5EF4-FFF2-40B4-BE49-F238E27FC236}">
                <a16:creationId xmlns:a16="http://schemas.microsoft.com/office/drawing/2014/main" id="{0C74ECC6-88F7-4CE8-A77E-7FAADE167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6347" y="113090"/>
            <a:ext cx="11519554" cy="6627130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183ADB-F026-413F-AE47-A41EE29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8E8D105-CA13-4EA7-8787-0D3290468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7586" y="2100411"/>
            <a:ext cx="8827533" cy="2655888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buNone/>
              <a:defRPr sz="3200" spc="0" baseline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D6FBB71D-2D13-4DCE-BCB3-A7A0AF670867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44151AC-B31D-4CFE-9DC5-6BD97C210F2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2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1"/>
            <a:ext cx="11967309" cy="61850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C4282D9-1CBD-4368-B6BE-11D9E017C6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11" y="1084884"/>
            <a:ext cx="11052273" cy="5150262"/>
          </a:xfr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65000"/>
              </a:lnSpc>
              <a:buNone/>
              <a:defRPr sz="15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459817-2B8D-4BA9-BCC7-4BAC626E8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0433" y="2608539"/>
            <a:ext cx="10171134" cy="12763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sz="3000" b="1">
                <a:latin typeface="Inter-Bold" panose="02000803000000020004" pitchFamily="50" charset="0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23C130C-8388-8249-9570-DEAAB2C97AD6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F0818CDC-EE04-4B03-9F1D-C323652A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515D1F4-BB90-4E14-BF04-AE6CEC237F3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56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309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3B5A9-4ABE-B849-88BB-1F6C45EDCBBB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E5D65DC-1026-4F9D-8655-EEEDABCD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363BE-D3F8-40C2-897C-57149159666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40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01C20-AAB7-2F47-AF1A-D6434FA5DD4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FB5E8A8-B72F-4FC7-B526-CF6C38F5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F6BD9C9-C57E-4576-AD1D-C1088D0ADD0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52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72AC8D-7CAE-4900-BAFC-E2D73A019976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D5DF5E8-6898-4270-BEA1-CD5ECE56D7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400" y="2143295"/>
            <a:ext cx="7196400" cy="483722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283E44C-44C2-43D4-9BB2-BC76D2C94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8000" y="2804400"/>
            <a:ext cx="6696000" cy="1976400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200" spc="0">
                <a:latin typeface="+mn-lt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18E533D-227B-CE40-AD64-4474F39DA86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228CF30C-9E31-4ED6-9404-E9D5B645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A2C2489-29F1-48F2-BB7B-EA2F15EB379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933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D06EA2-1D70-4BB9-8615-708FACA7579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354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57AC4C2-43C3-4664-B784-09193E05BF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6000" y="1382528"/>
            <a:ext cx="6883200" cy="481012"/>
          </a:xfrm>
        </p:spPr>
        <p:txBody>
          <a:bodyPr>
            <a:noAutofit/>
          </a:bodyPr>
          <a:lstStyle>
            <a:lvl1pPr marL="0" indent="0">
              <a:buNone/>
              <a:defRPr sz="2000" b="1" cap="all" spc="0" baseline="0"/>
            </a:lvl1pPr>
          </a:lstStyle>
          <a:p>
            <a:pPr lvl="0"/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6000" y="1965599"/>
            <a:ext cx="6883200" cy="201519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0000"/>
              </a:lnSpc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23CB54C-9743-4E50-A33B-9043DC2CE0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35488" y="4438800"/>
            <a:ext cx="6883400" cy="159120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700" b="1" spc="0"/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62F07CC4-6707-0C4F-B901-0C8A1A08920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4D79F2-FCE1-483C-98DE-BED94A5F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7CC031DD-5B55-464A-AF96-9E0229C3C0FB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940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cks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8BFE35-85CC-4467-9141-CD8A635147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26000" y="1080143"/>
            <a:ext cx="10029927" cy="675921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D4BA7-224E-4573-9D13-53FAF862C148}"/>
              </a:ext>
            </a:extLst>
          </p:cNvPr>
          <p:cNvSpPr/>
          <p:nvPr userDrawn="1"/>
        </p:nvSpPr>
        <p:spPr>
          <a:xfrm>
            <a:off x="1155700" y="2015067"/>
            <a:ext cx="3184505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C6D84-C518-492D-9700-174677BE7BB8}"/>
              </a:ext>
            </a:extLst>
          </p:cNvPr>
          <p:cNvSpPr/>
          <p:nvPr userDrawn="1"/>
        </p:nvSpPr>
        <p:spPr>
          <a:xfrm>
            <a:off x="4553184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9B9A2D-7D51-4F0E-B2A4-619BB5256520}"/>
              </a:ext>
            </a:extLst>
          </p:cNvPr>
          <p:cNvSpPr/>
          <p:nvPr userDrawn="1"/>
        </p:nvSpPr>
        <p:spPr>
          <a:xfrm>
            <a:off x="7950668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1ADE6F03-D273-DB48-8A30-2A4FD088644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8" name="Espace réservé du pied de page 4">
            <a:extLst>
              <a:ext uri="{FF2B5EF4-FFF2-40B4-BE49-F238E27FC236}">
                <a16:creationId xmlns:a16="http://schemas.microsoft.com/office/drawing/2014/main" id="{0A6EE2AD-0E27-40DC-98B6-8C6A329B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E07EDA6-7114-412C-8042-A80E32EA1CE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617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lis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636149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3B25AAAA-FB5B-48CB-AA44-F3E6DF11E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ABABCA1F-1DE5-457E-A459-E79AB38DF6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8357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6829806B-28A3-422C-9118-68FD65E1CF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5115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32DDAF53-2ECB-4469-BE5F-0005AE4500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1599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5A312A0B-60C3-496F-99EB-2373002AC4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8357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FC035CEF-B0F5-4F8A-B299-141AC84E68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25115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69E27B67-AB39-794F-A21A-182BD773529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C2A17924-A976-4421-96E8-7A05DD51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49ECA80E-2B4E-496D-8E85-EB9656C30C1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6523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4D9D1F31-1C1C-47A2-81CF-B5762E01314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431CD-2C3B-4C91-A36B-893F3A912ACB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7B38B48-6182-4E78-8D8D-DA4A9CD20C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2949" y="1061114"/>
            <a:ext cx="3464929" cy="2059721"/>
          </a:xfrm>
        </p:spPr>
        <p:txBody>
          <a:bodyPr>
            <a:noAutofit/>
          </a:bodyPr>
          <a:lstStyle>
            <a:lvl1pPr marL="0" indent="0">
              <a:buNone/>
              <a:defRPr sz="2800" cap="all" baseline="0"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0E71184-B805-4056-AB07-C4661DFE0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2850" y="3812165"/>
            <a:ext cx="3465513" cy="185236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FCCF792B-1B42-6E49-86DF-028AA0524FD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157662F-EC1F-4AC3-BC40-0236E5C7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07950EF6-5220-4EBD-9A80-C88F212FC76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822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  <a:p>
            <a:pPr lvl="1"/>
            <a:endParaRPr lang="en-US" noProof="0"/>
          </a:p>
          <a:p>
            <a:pPr lvl="1"/>
            <a:endParaRPr lang="en-US" noProof="0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F2296EB-B2F0-46D1-B6CA-ECB5B6A4E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F868C01-1376-3F46-BA65-65FA429A5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525E6AF-0B6E-624B-BB41-5117B2D7940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34161336-DAD2-4785-A3C2-29E4FF28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1F0C649-2514-4A36-8A54-7BEA87EA8B3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415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5EE6F67A-F945-4E8B-8DB9-9FEECE51A2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A699F7E-8EA6-614F-A1F0-A79F4CFA0C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A5F30755-0CE3-5B46-B5C6-A2E258FE62C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F932D8-3168-438F-9477-0ACC9906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23E5BAB-89BD-49BB-BF55-ED91F84367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0502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6733D982-BD72-4DDC-8CD8-8FFEFCADA2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2539AF-96E4-42AF-BC26-A06BB63D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E26717A-2A96-8E46-B7A8-3CD5323C001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D81EA2B2-78FE-4EF1-B22E-8404BDA0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FC781F9-E24A-4A27-BB5F-C7DCAB08807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96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3B7612B3-01C5-4C0B-8684-0EB1258B03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006452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9EBED89-D291-D74A-A4D5-4B48BE59B9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C77A77F3-F829-7D41-8745-ED478ECA64D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DE4E7667-C13F-43AE-B97B-4C17B32C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D43AAAD-69B9-447B-B44D-1F4C5EDE0CA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032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1739359-C8F4-6544-90F7-78AC563C4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9014602-FFA5-2142-8BDA-F30C2A64E62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73D845F3-96B6-43C0-8B43-DE328B0A8F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0B31A663-51F5-4B63-B770-02F1C47B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F65E520-CDF2-40B6-A267-23BC99CB3FF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8800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1600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1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20707BD-9F64-1444-9BCD-A509FE40EA7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B2610434-5849-486D-A80A-7D27DD9C40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956C443-535F-47F7-8125-26173647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98BB416-EAF7-4CD8-801B-33941D036E2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6249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5DDD5D-CB37-4A94-B451-622A7935C14A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347623"/>
            <a:ext cx="10508729" cy="4938878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4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66A894F-7D24-46B1-AB69-2F379B518D3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503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2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347627"/>
            <a:ext cx="10508729" cy="4938874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49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44565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78C5B-C054-415E-A330-746515F67E3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347629"/>
            <a:ext cx="4904400" cy="4938872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50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347628"/>
            <a:ext cx="4904400" cy="4938872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4561F3E-A342-4031-BB96-C082FD08505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1555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1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1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347625"/>
            <a:ext cx="4904400" cy="493887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48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347624"/>
            <a:ext cx="4904400" cy="493887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743370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86C047-33E7-4616-8B63-99BF0281023D}"/>
              </a:ext>
            </a:extLst>
          </p:cNvPr>
          <p:cNvSpPr/>
          <p:nvPr userDrawn="1"/>
        </p:nvSpPr>
        <p:spPr>
          <a:xfrm>
            <a:off x="526358" y="112620"/>
            <a:ext cx="11533256" cy="6627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359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0320" y="1100030"/>
            <a:ext cx="7646400" cy="90767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47DA4E0-6945-4A3B-A91E-B64CEFE697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0800" y="2167176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AC2F22B-2750-4EEE-AC69-119EB861D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40800" y="4960290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3FD58D8F-0C80-4FFD-AB37-61BECFB754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40800" y="5625568"/>
            <a:ext cx="3438256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FA5775F6-2970-4383-9D5A-08698D6177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801" y="2720583"/>
            <a:ext cx="3438256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E6A4716C-ABC0-4487-8B2E-222C07D862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395" y="2720583"/>
            <a:ext cx="3365171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55FD8DC5-4C9A-4635-BBC4-1EF835F5C0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2395" y="5625568"/>
            <a:ext cx="3365171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84EAB1B2-05E4-3844-85DE-81BB2B57FA7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20" name="Espace réservé du pied de page 4">
            <a:extLst>
              <a:ext uri="{FF2B5EF4-FFF2-40B4-BE49-F238E27FC236}">
                <a16:creationId xmlns:a16="http://schemas.microsoft.com/office/drawing/2014/main" id="{0AFC629C-6D31-48CF-B4DD-C7E740AC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8DAA3AF-F2C2-469D-AE2B-2456F18F15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260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5" y="116490"/>
            <a:ext cx="11519553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86C9ED41-8C64-AD46-9A04-507FE75C4A6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DD44FED9-09CD-4113-9B5B-115E5FB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AA71B0C-ED54-4B70-B0D8-DE60B293F3E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836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6" y="116490"/>
            <a:ext cx="11519552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C478FBB-5A40-3C40-A81B-251D11AB93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8C64E38A-CBBC-4D28-9C24-F5480F2E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C79B6C7-0D5A-46CB-B010-A99565A33B8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3632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45FB9D8-0BFF-3D4D-90EB-9D8D5EC6C71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7691A74-49BA-4CB5-AB58-B27B0DE1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41ED70F-7FC4-461B-8EFF-537E36B35B7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548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6C69108-8A03-4120-9EC5-52B62F76BA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090" y="116487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6D6D7455-FC66-504C-90C5-D7027B82995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8A0C6D7-FA6C-400A-A6CB-C97B785C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5FB76-DCEC-435D-B44E-B8CDE9464F35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3115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CD4D91-58E7-4005-93FD-CFF1986F946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2CFCA71-2FD3-46A0-BC72-1FA0871E173F}"/>
              </a:ext>
            </a:extLst>
          </p:cNvPr>
          <p:cNvSpPr/>
          <p:nvPr userDrawn="1"/>
        </p:nvSpPr>
        <p:spPr>
          <a:xfrm>
            <a:off x="0" y="0"/>
            <a:ext cx="12200164" cy="6858000"/>
          </a:xfrm>
          <a:custGeom>
            <a:avLst/>
            <a:gdLst>
              <a:gd name="connsiteX0" fmla="*/ 113089 w 12192000"/>
              <a:gd name="connsiteY0" fmla="*/ 116483 h 6858000"/>
              <a:gd name="connsiteX1" fmla="*/ 113089 w 12192000"/>
              <a:gd name="connsiteY1" fmla="*/ 6304798 h 6858000"/>
              <a:gd name="connsiteX2" fmla="*/ 12078906 w 12192000"/>
              <a:gd name="connsiteY2" fmla="*/ 6304798 h 6858000"/>
              <a:gd name="connsiteX3" fmla="*/ 12078906 w 12192000"/>
              <a:gd name="connsiteY3" fmla="*/ 11648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13089" y="116483"/>
                </a:moveTo>
                <a:lnTo>
                  <a:pt x="113089" y="6304798"/>
                </a:lnTo>
                <a:lnTo>
                  <a:pt x="12078906" y="6304798"/>
                </a:lnTo>
                <a:lnTo>
                  <a:pt x="12078906" y="11648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E74FEBFB-7A60-8942-90F4-8CD70C8BC3F0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F816185-E35B-4BE7-B8FC-5014E39F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A2A24-9380-4689-8637-229998D343FB}"/>
              </a:ext>
            </a:extLst>
          </p:cNvPr>
          <p:cNvSpPr txBox="1"/>
          <p:nvPr userDrawn="1"/>
        </p:nvSpPr>
        <p:spPr>
          <a:xfrm rot="16200000">
            <a:off x="11707268" y="3340514"/>
            <a:ext cx="858416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5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C1-internal</a:t>
            </a:r>
            <a:endParaRPr lang="en-US" sz="55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96FA185-0B8A-4AD5-B568-ED1F3A268E4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81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9E628-9A89-457B-A1D6-35CB67899D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600" y="111600"/>
            <a:ext cx="11966400" cy="66312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38CD9AE-EE18-4381-8AF4-687CC5BE3ED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1052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élément multimédia 3">
            <a:extLst>
              <a:ext uri="{FF2B5EF4-FFF2-40B4-BE49-F238E27FC236}">
                <a16:creationId xmlns:a16="http://schemas.microsoft.com/office/drawing/2014/main" id="{7C1BF6B2-3DCB-4A16-8D34-317A82E60854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13090" y="116346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2193DCD-EF22-8149-86F6-46A750DFD41F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33A3C7F9-8D04-48E8-B182-1741AD52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69B2BF2-FC23-4E82-AB99-0C529A2C639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381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4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2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7B49E237-180F-18F1-57CB-9633E7628A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2825809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0" imgW="473" imgH="473" progId="TCLayout.ActiveDocument.1">
                  <p:embed/>
                </p:oleObj>
              </mc:Choice>
              <mc:Fallback>
                <p:oleObj name="Diapositive think-cell" r:id="rId40" imgW="473" imgH="473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7B49E237-180F-18F1-57CB-9633E7628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643BD2D-A388-4FEA-B1DD-C7F8E34C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F4CA41-F901-4007-92E2-E5060E02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err="1"/>
              <a:t>Cliquez</a:t>
            </a:r>
            <a:r>
              <a:rPr lang="en-US" noProof="0"/>
              <a:t> pour modifier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F3CD3F-4075-48BB-B5F5-A7E6234FA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F1C070-11E6-4D91-AEAE-1D1039112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1CACD-577A-43A0-88CF-D3E8E4C3F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fld id="{E131BF3F-52DC-45AE-BE17-ED4D9083521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BC1C5-EA48-45A2-9F65-DE54E11B6DF0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56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81" r:id="rId3"/>
    <p:sldLayoutId id="2147483698" r:id="rId4"/>
    <p:sldLayoutId id="2147483660" r:id="rId5"/>
    <p:sldLayoutId id="2147483663" r:id="rId6"/>
    <p:sldLayoutId id="2147483683" r:id="rId7"/>
    <p:sldLayoutId id="2147483691" r:id="rId8"/>
    <p:sldLayoutId id="2147483677" r:id="rId9"/>
    <p:sldLayoutId id="2147483672" r:id="rId10"/>
    <p:sldLayoutId id="2147483708" r:id="rId11"/>
    <p:sldLayoutId id="2147483699" r:id="rId12"/>
    <p:sldLayoutId id="2147483710" r:id="rId13"/>
    <p:sldLayoutId id="2147483662" r:id="rId14"/>
    <p:sldLayoutId id="2147483666" r:id="rId15"/>
    <p:sldLayoutId id="2147483714" r:id="rId16"/>
    <p:sldLayoutId id="2147483717" r:id="rId17"/>
    <p:sldLayoutId id="2147483711" r:id="rId18"/>
    <p:sldLayoutId id="2147483673" r:id="rId19"/>
    <p:sldLayoutId id="2147483704" r:id="rId20"/>
    <p:sldLayoutId id="2147483703" r:id="rId21"/>
    <p:sldLayoutId id="2147483701" r:id="rId22"/>
    <p:sldLayoutId id="2147483702" r:id="rId23"/>
    <p:sldLayoutId id="2147483700" r:id="rId24"/>
    <p:sldLayoutId id="2147483715" r:id="rId25"/>
    <p:sldLayoutId id="2147483720" r:id="rId26"/>
    <p:sldLayoutId id="2147483718" r:id="rId27"/>
    <p:sldLayoutId id="2147483719" r:id="rId28"/>
    <p:sldLayoutId id="2147483709" r:id="rId29"/>
    <p:sldLayoutId id="2147483694" r:id="rId30"/>
    <p:sldLayoutId id="2147483695" r:id="rId31"/>
    <p:sldLayoutId id="2147483713" r:id="rId32"/>
    <p:sldLayoutId id="2147483665" r:id="rId33"/>
    <p:sldLayoutId id="2147483696" r:id="rId34"/>
    <p:sldLayoutId id="2147483705" r:id="rId35"/>
    <p:sldLayoutId id="2147483669" r:id="rId36"/>
    <p:sldLayoutId id="2147483668" r:id="rId3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 Cond" panose="020B0506020202020204" pitchFamily="34" charset="0"/>
          <a:ea typeface="Inter-Bold" panose="02000803000000020004" pitchFamily="50" charset="0"/>
          <a:cs typeface="Inter-Bold" panose="0200080300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60000"/>
        <a:buFont typeface="Courier New" panose="02070309020205020404" pitchFamily="49" charset="0"/>
        <a:buChar char="o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23566A7-13D4-8EFD-4911-CF8091EDA2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0336" y="2844799"/>
            <a:ext cx="8941607" cy="1019261"/>
          </a:xfrm>
        </p:spPr>
        <p:txBody>
          <a:bodyPr anchor="ctr"/>
          <a:lstStyle/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Client:</a:t>
            </a:r>
            <a:r>
              <a:rPr lang="en-US" sz="2800"/>
              <a:t> Company Name</a:t>
            </a:r>
          </a:p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Project:</a:t>
            </a:r>
            <a:r>
              <a:rPr lang="en-US" sz="2800"/>
              <a:t> Project Name</a:t>
            </a:r>
            <a:endParaRPr lang="en-US" sz="2400">
              <a:solidFill>
                <a:srgbClr val="9AC0C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EC5DC15-E44E-7EC3-E251-AB6D493F88EA}"/>
              </a:ext>
            </a:extLst>
          </p:cNvPr>
          <p:cNvSpPr txBox="1">
            <a:spLocks/>
          </p:cNvSpPr>
          <p:nvPr/>
        </p:nvSpPr>
        <p:spPr>
          <a:xfrm>
            <a:off x="1160336" y="4360200"/>
            <a:ext cx="8941607" cy="6887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800" i="0" kern="1200" cap="all" baseline="0">
                <a:solidFill>
                  <a:schemeClr val="bg1"/>
                </a:solidFill>
                <a:latin typeface="+mj-lt"/>
                <a:ea typeface="Inter-Bold" panose="02000803000000020004" pitchFamily="50" charset="0"/>
                <a:cs typeface="Inter-Bold" panose="0200080300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Courier New" panose="02070309020205020404" pitchFamily="49" charset="0"/>
              <a:buChar char="o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9AC0C1"/>
                </a:solidFill>
              </a:rPr>
              <a:t>SOLUTION RECOMMENDATION </a:t>
            </a:r>
            <a:r>
              <a:rPr lang="en-US" sz="2400">
                <a:solidFill>
                  <a:srgbClr val="9AC0C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V.2.0 | YYYYMMDD</a:t>
            </a:r>
          </a:p>
        </p:txBody>
      </p:sp>
    </p:spTree>
    <p:extLst>
      <p:ext uri="{BB962C8B-B14F-4D97-AF65-F5344CB8AC3E}">
        <p14:creationId xmlns:p14="http://schemas.microsoft.com/office/powerpoint/2010/main" val="294361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0924F1D-9846-F14B-F585-14C2D6495E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PLEASE READ</a:t>
            </a:r>
            <a:endParaRPr lang="en-US" sz="280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CF66DF-258D-D38E-F555-832B3B0243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>
                <a:solidFill>
                  <a:schemeClr val="accent1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SOME IMPORTANT INFORMATION BEFORE STARTING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8A9DAB-AFAE-35FB-2664-9000573D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0A6CF3A-2E94-B6C4-B54A-1DEC7DC1E3E2}"/>
              </a:ext>
            </a:extLst>
          </p:cNvPr>
          <p:cNvSpPr txBox="1"/>
          <p:nvPr/>
        </p:nvSpPr>
        <p:spPr>
          <a:xfrm>
            <a:off x="1192733" y="1530073"/>
            <a:ext cx="10508729" cy="3986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2"/>
              </a:buBlip>
            </a:pP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Please refer to the document named </a:t>
            </a:r>
            <a:r>
              <a:rPr lang="en-GB" sz="1300" b="1" i="1">
                <a:latin typeface="Arial Nova Cond" panose="020B0506020202020204" pitchFamily="34" charset="0"/>
                <a:ea typeface="Inter-Bold" panose="02000803000000020004" pitchFamily="50" charset="0"/>
              </a:rPr>
              <a:t>Understand-The-Sales-Process-V4</a:t>
            </a: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 to learn more about this key phase of the Sales Process</a:t>
            </a:r>
            <a:b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Please note that Delivery Managers remain at your disposal in case you have any questions related to the Sales Process</a:t>
            </a:r>
            <a:br>
              <a:rPr lang="en-GB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Merci de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référer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au document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intitulé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Understand-The-Sales-Process-V4 pour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en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savoir plus sur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cette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phase clef du process</a:t>
            </a:r>
            <a:b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Nous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rappelons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que les Delivery Managers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à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votre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écoute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pour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toutes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questions relatives au process</a:t>
            </a: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2"/>
              </a:buBlip>
            </a:pP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The </a:t>
            </a:r>
            <a:r>
              <a:rPr lang="en-GB" sz="1300" b="1" i="1">
                <a:latin typeface="Arial Nova Cond" panose="020B0506020202020204" pitchFamily="34" charset="0"/>
                <a:ea typeface="Inter-Bold" panose="02000803000000020004" pitchFamily="50" charset="0"/>
              </a:rPr>
              <a:t>Assessment of the Sales Process </a:t>
            </a: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phase is mandatory prior to the Solutioning phase. No Deal Review can happen without this.</a:t>
            </a:r>
            <a:br>
              <a:rPr lang="en-GB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Cette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phase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d’Assessment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est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obligatoire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avant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la phase Solutioning.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Aucune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instance de Deal Review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n’est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possible sans phase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d’Assessment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préalable</a:t>
            </a:r>
            <a:endParaRPr lang="en-GB" sz="1200" i="1">
              <a:latin typeface="Arial Nova Cond" panose="020B0506020202020204" pitchFamily="34" charset="0"/>
              <a:ea typeface="Inter-Bold" panose="02000803000000020004" pitchFamily="50" charset="0"/>
            </a:endParaRP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2"/>
              </a:buBlip>
            </a:pP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You can add slides and rearrange questions/answers on several slides to fit your content but please do not remove any questions.</a:t>
            </a:r>
            <a:br>
              <a:rPr lang="en-GB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pouvez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rajouter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des slides et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réorganiser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besoin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les questions/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réponses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sur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plusieurs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slides,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mais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merci de ne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supprimer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aucune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des questions</a:t>
            </a: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2"/>
              </a:buBlip>
            </a:pP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« Recommended » tagged slides are not optional ones: if questions are relevant according to the context or if you have answers, please complete.</a:t>
            </a:r>
            <a:b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Les slides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taggués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Recommended ne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pas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optionnels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: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les questions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pertinentes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dans le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contexte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du bid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ou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avez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les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réponses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idoines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, merci de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compléter</a:t>
            </a:r>
            <a:endParaRPr lang="en-GB" sz="1200" i="1">
              <a:latin typeface="Arial Nova Cond" panose="020B0506020202020204" pitchFamily="34" charset="0"/>
              <a:ea typeface="Inter-Bold" panose="02000803000000020004" pitchFamily="50" charset="0"/>
            </a:endParaRP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2"/>
              </a:buBlip>
            </a:pPr>
            <a:r>
              <a:rPr lang="en-GB" sz="1300" b="1">
                <a:latin typeface="Arial Nova Cond" panose="020B0506020202020204" pitchFamily="34" charset="0"/>
                <a:ea typeface="Inter-Bold" panose="02000803000000020004" pitchFamily="50" charset="0"/>
              </a:rPr>
              <a:t>The Sales Manager visa is a prerequisite which must happen prior to the Go/No Go instance, otherwise this cannot happen.</a:t>
            </a:r>
            <a:br>
              <a:rPr lang="en-GB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Le visa par le Sales Manager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est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un </a:t>
            </a:r>
            <a:r>
              <a:rPr lang="en-GB" sz="1200" i="1" cap="all" err="1">
                <a:latin typeface="Arial Nova Cond" panose="020B0506020202020204" pitchFamily="34" charset="0"/>
                <a:ea typeface="Inter-Bold" panose="02000803000000020004" pitchFamily="50" charset="0"/>
              </a:rPr>
              <a:t>prérequis</a:t>
            </a:r>
            <a:r>
              <a:rPr lang="en-GB" sz="1200" i="1" cap="all">
                <a:latin typeface="Arial Nova Cond" panose="020B0506020202020204" pitchFamily="34" charset="0"/>
                <a:ea typeface="Inter-Bold" panose="02000803000000020004" pitchFamily="50" charset="0"/>
              </a:rPr>
              <a:t> indispensable 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à la tenue de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l’instance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de Go/No Go, sans quoi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l’instance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doit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être</a:t>
            </a:r>
            <a:r>
              <a:rPr lang="en-GB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GB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annulée</a:t>
            </a:r>
            <a:endParaRPr lang="en-GB" sz="1200" i="1">
              <a:latin typeface="Arial Nova Cond" panose="020B0506020202020204" pitchFamily="34" charset="0"/>
              <a:ea typeface="Inter-Bold" panose="02000803000000020004" pitchFamily="50" charset="0"/>
            </a:endParaRPr>
          </a:p>
        </p:txBody>
      </p:sp>
      <p:pic>
        <p:nvPicPr>
          <p:cNvPr id="7" name="Picture 28" descr="Solution - Icônes divers gratuites">
            <a:extLst>
              <a:ext uri="{FF2B5EF4-FFF2-40B4-BE49-F238E27FC236}">
                <a16:creationId xmlns:a16="http://schemas.microsoft.com/office/drawing/2014/main" id="{71333BA0-7FCB-0459-D59C-CEF9B8D09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20C3D9B-500C-60B3-3E79-C212D3B23D38}"/>
              </a:ext>
            </a:extLst>
          </p:cNvPr>
          <p:cNvSpPr txBox="1"/>
          <p:nvPr/>
        </p:nvSpPr>
        <p:spPr>
          <a:xfrm>
            <a:off x="4434302" y="5810883"/>
            <a:ext cx="4025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That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said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,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it’s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now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your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turn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to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play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and </a:t>
            </a:r>
            <a:r>
              <a:rPr lang="fr-FR" sz="1400" b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win</a:t>
            </a:r>
            <a:r>
              <a:rPr lang="fr-FR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!</a:t>
            </a:r>
          </a:p>
          <a:p>
            <a:r>
              <a:rPr lang="fr-FR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Maintenant que tout cela est dit, à vous de jouer et de gagner !</a:t>
            </a:r>
          </a:p>
        </p:txBody>
      </p:sp>
    </p:spTree>
    <p:extLst>
      <p:ext uri="{BB962C8B-B14F-4D97-AF65-F5344CB8AC3E}">
        <p14:creationId xmlns:p14="http://schemas.microsoft.com/office/powerpoint/2010/main" val="2758994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0E6F05A-501D-1AEF-B94C-9110D14A2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SALES PROCESS</a:t>
            </a:r>
            <a:endParaRPr lang="en-US" sz="280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0F83DB-BDB0-5677-9865-77021390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82A82C85-2C96-B9D3-26DD-ECD0FB875CBA}"/>
              </a:ext>
            </a:extLst>
          </p:cNvPr>
          <p:cNvSpPr/>
          <p:nvPr/>
        </p:nvSpPr>
        <p:spPr>
          <a:xfrm>
            <a:off x="1683202" y="2313713"/>
            <a:ext cx="1846053" cy="482405"/>
          </a:xfrm>
          <a:prstGeom prst="homePlate">
            <a:avLst/>
          </a:prstGeom>
          <a:solidFill>
            <a:srgbClr val="CD3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>
                <a:latin typeface="Arial Nova Cond" panose="020B0506020202020204" pitchFamily="34" charset="0"/>
              </a:rPr>
              <a:t>Business</a:t>
            </a:r>
          </a:p>
          <a:p>
            <a:pPr algn="ctr"/>
            <a:r>
              <a:rPr lang="fr-FR" sz="1200">
                <a:latin typeface="Arial Nova Cond" panose="020B0506020202020204" pitchFamily="34" charset="0"/>
              </a:rPr>
              <a:t>Qualification</a:t>
            </a:r>
          </a:p>
        </p:txBody>
      </p:sp>
      <p:sp>
        <p:nvSpPr>
          <p:cNvPr id="4" name="Flèche : chevron 3">
            <a:extLst>
              <a:ext uri="{FF2B5EF4-FFF2-40B4-BE49-F238E27FC236}">
                <a16:creationId xmlns:a16="http://schemas.microsoft.com/office/drawing/2014/main" id="{E200B458-EF44-94F8-AC76-71914044450F}"/>
              </a:ext>
            </a:extLst>
          </p:cNvPr>
          <p:cNvSpPr/>
          <p:nvPr/>
        </p:nvSpPr>
        <p:spPr>
          <a:xfrm>
            <a:off x="3323999" y="2313713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" rIns="36000" bIns="36000" rtlCol="0" anchor="ctr"/>
          <a:lstStyle/>
          <a:p>
            <a:pPr algn="ctr"/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Bid</a:t>
            </a:r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 Reco.</a:t>
            </a:r>
          </a:p>
        </p:txBody>
      </p:sp>
      <p:sp>
        <p:nvSpPr>
          <p:cNvPr id="82" name="Flèche : chevron 81">
            <a:extLst>
              <a:ext uri="{FF2B5EF4-FFF2-40B4-BE49-F238E27FC236}">
                <a16:creationId xmlns:a16="http://schemas.microsoft.com/office/drawing/2014/main" id="{A1A35BCA-604D-66C1-0243-FBAB7237820D}"/>
              </a:ext>
            </a:extLst>
          </p:cNvPr>
          <p:cNvSpPr/>
          <p:nvPr/>
        </p:nvSpPr>
        <p:spPr>
          <a:xfrm>
            <a:off x="4964796" y="2313711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Go/No Go</a:t>
            </a:r>
          </a:p>
        </p:txBody>
      </p:sp>
      <p:sp>
        <p:nvSpPr>
          <p:cNvPr id="83" name="Triangle isocèle 82">
            <a:extLst>
              <a:ext uri="{FF2B5EF4-FFF2-40B4-BE49-F238E27FC236}">
                <a16:creationId xmlns:a16="http://schemas.microsoft.com/office/drawing/2014/main" id="{4E522D24-4ADB-8F5D-2827-644FDE748442}"/>
              </a:ext>
            </a:extLst>
          </p:cNvPr>
          <p:cNvSpPr/>
          <p:nvPr/>
        </p:nvSpPr>
        <p:spPr>
          <a:xfrm>
            <a:off x="5295117" y="2468697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D6B5A29C-5657-C402-9732-57C3DBECCFF9}"/>
              </a:ext>
            </a:extLst>
          </p:cNvPr>
          <p:cNvGrpSpPr/>
          <p:nvPr/>
        </p:nvGrpSpPr>
        <p:grpSpPr>
          <a:xfrm>
            <a:off x="1683202" y="5536209"/>
            <a:ext cx="3488786" cy="482405"/>
            <a:chOff x="897147" y="5036146"/>
            <a:chExt cx="3488786" cy="482405"/>
          </a:xfrm>
          <a:solidFill>
            <a:schemeClr val="accent1">
              <a:lumMod val="75000"/>
            </a:schemeClr>
          </a:solidFill>
        </p:grpSpPr>
        <p:sp>
          <p:nvSpPr>
            <p:cNvPr id="85" name="Flèche : pentagone 84">
              <a:extLst>
                <a:ext uri="{FF2B5EF4-FFF2-40B4-BE49-F238E27FC236}">
                  <a16:creationId xmlns:a16="http://schemas.microsoft.com/office/drawing/2014/main" id="{DD2DDB39-9417-B8D0-BDAE-5B116EA367A0}"/>
                </a:ext>
              </a:extLst>
            </p:cNvPr>
            <p:cNvSpPr/>
            <p:nvPr/>
          </p:nvSpPr>
          <p:spPr>
            <a:xfrm>
              <a:off x="897147" y="5036146"/>
              <a:ext cx="1846053" cy="482405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err="1">
                  <a:latin typeface="Arial Nova Cond" panose="020B0506020202020204" pitchFamily="34" charset="0"/>
                </a:rPr>
                <a:t>Proposal</a:t>
              </a:r>
              <a:r>
                <a:rPr lang="fr-FR" sz="1200">
                  <a:latin typeface="Arial Nova Cond" panose="020B0506020202020204" pitchFamily="34" charset="0"/>
                </a:rPr>
                <a:t> </a:t>
              </a:r>
              <a:r>
                <a:rPr lang="fr-FR" sz="1200" err="1">
                  <a:latin typeface="Arial Nova Cond" panose="020B0506020202020204" pitchFamily="34" charset="0"/>
                </a:rPr>
                <a:t>Sending</a:t>
              </a:r>
              <a:endParaRPr lang="fr-FR" sz="1200">
                <a:latin typeface="Arial Nova Cond" panose="020B0506020202020204" pitchFamily="34" charset="0"/>
              </a:endParaRPr>
            </a:p>
          </p:txBody>
        </p:sp>
        <p:sp>
          <p:nvSpPr>
            <p:cNvPr id="86" name="Flèche : chevron 85">
              <a:extLst>
                <a:ext uri="{FF2B5EF4-FFF2-40B4-BE49-F238E27FC236}">
                  <a16:creationId xmlns:a16="http://schemas.microsoft.com/office/drawing/2014/main" id="{E4DDC777-F221-C1CD-8302-3F9C7DF03239}"/>
                </a:ext>
              </a:extLst>
            </p:cNvPr>
            <p:cNvSpPr/>
            <p:nvPr/>
          </p:nvSpPr>
          <p:spPr>
            <a:xfrm>
              <a:off x="2539880" y="5036146"/>
              <a:ext cx="1846053" cy="48240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Oral Pitch </a:t>
              </a:r>
              <a:b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</a:b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Preparation</a:t>
              </a:r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</p:grp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FF11D092-C09A-13FB-6D57-9D1F9F0F93BA}"/>
              </a:ext>
            </a:extLst>
          </p:cNvPr>
          <p:cNvCxnSpPr>
            <a:cxnSpLocks/>
          </p:cNvCxnSpPr>
          <p:nvPr/>
        </p:nvCxnSpPr>
        <p:spPr>
          <a:xfrm>
            <a:off x="3565831" y="1480750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D1987662-041E-4496-41A2-4D0372550A01}"/>
              </a:ext>
            </a:extLst>
          </p:cNvPr>
          <p:cNvCxnSpPr>
            <a:cxnSpLocks/>
          </p:cNvCxnSpPr>
          <p:nvPr/>
        </p:nvCxnSpPr>
        <p:spPr>
          <a:xfrm>
            <a:off x="6840367" y="2554916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E4A6384D-293B-B7CC-B1DC-E3C5693AF401}"/>
              </a:ext>
            </a:extLst>
          </p:cNvPr>
          <p:cNvCxnSpPr>
            <a:cxnSpLocks/>
          </p:cNvCxnSpPr>
          <p:nvPr/>
        </p:nvCxnSpPr>
        <p:spPr>
          <a:xfrm>
            <a:off x="8494030" y="3629082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7E154CEC-AE71-4E92-B43E-47AFDFC4B411}"/>
              </a:ext>
            </a:extLst>
          </p:cNvPr>
          <p:cNvCxnSpPr>
            <a:cxnSpLocks/>
          </p:cNvCxnSpPr>
          <p:nvPr/>
        </p:nvCxnSpPr>
        <p:spPr>
          <a:xfrm>
            <a:off x="6840367" y="4703248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6C55B83-6A6A-B2B7-ED7D-BF957C3851ED}"/>
              </a:ext>
            </a:extLst>
          </p:cNvPr>
          <p:cNvCxnSpPr>
            <a:cxnSpLocks/>
          </p:cNvCxnSpPr>
          <p:nvPr/>
        </p:nvCxnSpPr>
        <p:spPr>
          <a:xfrm>
            <a:off x="1303726" y="2554916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FB785BE7-BFCB-81E6-D5C8-CF4B87DC8C78}"/>
              </a:ext>
            </a:extLst>
          </p:cNvPr>
          <p:cNvCxnSpPr>
            <a:cxnSpLocks/>
          </p:cNvCxnSpPr>
          <p:nvPr/>
        </p:nvCxnSpPr>
        <p:spPr>
          <a:xfrm>
            <a:off x="1303726" y="3629082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C5D55F9B-2B71-3A4F-707A-B7DBAFDD89B4}"/>
              </a:ext>
            </a:extLst>
          </p:cNvPr>
          <p:cNvCxnSpPr>
            <a:cxnSpLocks/>
          </p:cNvCxnSpPr>
          <p:nvPr/>
        </p:nvCxnSpPr>
        <p:spPr>
          <a:xfrm>
            <a:off x="1303726" y="4703248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CF23DB71-B93C-48CF-1598-C6293390FCE7}"/>
              </a:ext>
            </a:extLst>
          </p:cNvPr>
          <p:cNvCxnSpPr>
            <a:cxnSpLocks/>
          </p:cNvCxnSpPr>
          <p:nvPr/>
        </p:nvCxnSpPr>
        <p:spPr>
          <a:xfrm>
            <a:off x="1303726" y="5777411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7C32722B-DD41-7D34-E781-8276B3673BC6}"/>
              </a:ext>
            </a:extLst>
          </p:cNvPr>
          <p:cNvCxnSpPr>
            <a:cxnSpLocks/>
          </p:cNvCxnSpPr>
          <p:nvPr/>
        </p:nvCxnSpPr>
        <p:spPr>
          <a:xfrm>
            <a:off x="1303726" y="2017833"/>
            <a:ext cx="2599944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68EAA248-F49C-0496-F4AF-A32B80237D64}"/>
              </a:ext>
            </a:extLst>
          </p:cNvPr>
          <p:cNvCxnSpPr>
            <a:cxnSpLocks/>
          </p:cNvCxnSpPr>
          <p:nvPr/>
        </p:nvCxnSpPr>
        <p:spPr>
          <a:xfrm>
            <a:off x="1303726" y="3091999"/>
            <a:ext cx="5879541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A1218ACF-3C4B-A21A-9C9B-FF2B73219C7E}"/>
              </a:ext>
            </a:extLst>
          </p:cNvPr>
          <p:cNvCxnSpPr>
            <a:cxnSpLocks/>
          </p:cNvCxnSpPr>
          <p:nvPr/>
        </p:nvCxnSpPr>
        <p:spPr>
          <a:xfrm>
            <a:off x="1303726" y="4166165"/>
            <a:ext cx="7533204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759C0F19-7CCB-50E7-BADD-6DE98F4094C3}"/>
              </a:ext>
            </a:extLst>
          </p:cNvPr>
          <p:cNvCxnSpPr>
            <a:cxnSpLocks/>
          </p:cNvCxnSpPr>
          <p:nvPr/>
        </p:nvCxnSpPr>
        <p:spPr>
          <a:xfrm>
            <a:off x="1303726" y="3091997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71AA5107-281F-3E21-112D-D19BD5581094}"/>
              </a:ext>
            </a:extLst>
          </p:cNvPr>
          <p:cNvCxnSpPr>
            <a:cxnSpLocks/>
          </p:cNvCxnSpPr>
          <p:nvPr/>
        </p:nvCxnSpPr>
        <p:spPr>
          <a:xfrm>
            <a:off x="1303726" y="4166163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1FF3B305-E180-C47F-3FF3-77DFD6345CDD}"/>
              </a:ext>
            </a:extLst>
          </p:cNvPr>
          <p:cNvCxnSpPr>
            <a:cxnSpLocks/>
          </p:cNvCxnSpPr>
          <p:nvPr/>
        </p:nvCxnSpPr>
        <p:spPr>
          <a:xfrm>
            <a:off x="1303726" y="5240326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FBFBB248-8979-3117-E847-B3881064525C}"/>
              </a:ext>
            </a:extLst>
          </p:cNvPr>
          <p:cNvCxnSpPr>
            <a:cxnSpLocks/>
          </p:cNvCxnSpPr>
          <p:nvPr/>
        </p:nvCxnSpPr>
        <p:spPr>
          <a:xfrm>
            <a:off x="1303726" y="2017831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700BB21A-00FD-4078-836F-DA91A0EAC5CD}"/>
              </a:ext>
            </a:extLst>
          </p:cNvPr>
          <p:cNvCxnSpPr>
            <a:cxnSpLocks/>
          </p:cNvCxnSpPr>
          <p:nvPr/>
        </p:nvCxnSpPr>
        <p:spPr>
          <a:xfrm>
            <a:off x="3903670" y="1480750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9E22C59E-22A4-F8F7-9279-58DBB2D70C42}"/>
              </a:ext>
            </a:extLst>
          </p:cNvPr>
          <p:cNvCxnSpPr>
            <a:cxnSpLocks/>
          </p:cNvCxnSpPr>
          <p:nvPr/>
        </p:nvCxnSpPr>
        <p:spPr>
          <a:xfrm>
            <a:off x="7183267" y="2554914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1189B385-0B32-2D73-490C-B2A91DF4956C}"/>
              </a:ext>
            </a:extLst>
          </p:cNvPr>
          <p:cNvCxnSpPr>
            <a:cxnSpLocks/>
          </p:cNvCxnSpPr>
          <p:nvPr/>
        </p:nvCxnSpPr>
        <p:spPr>
          <a:xfrm>
            <a:off x="8836930" y="3629082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323405E2-30DA-3D61-8810-FFD08E6CBC03}"/>
              </a:ext>
            </a:extLst>
          </p:cNvPr>
          <p:cNvCxnSpPr>
            <a:cxnSpLocks/>
          </p:cNvCxnSpPr>
          <p:nvPr/>
        </p:nvCxnSpPr>
        <p:spPr>
          <a:xfrm>
            <a:off x="7183267" y="4703248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6F56DBE4-7E63-86EA-7C81-9E9C5BF6FEBB}"/>
              </a:ext>
            </a:extLst>
          </p:cNvPr>
          <p:cNvCxnSpPr>
            <a:cxnSpLocks/>
          </p:cNvCxnSpPr>
          <p:nvPr/>
        </p:nvCxnSpPr>
        <p:spPr>
          <a:xfrm>
            <a:off x="1303726" y="5240331"/>
            <a:ext cx="5879541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lèche : pentagone 106">
            <a:extLst>
              <a:ext uri="{FF2B5EF4-FFF2-40B4-BE49-F238E27FC236}">
                <a16:creationId xmlns:a16="http://schemas.microsoft.com/office/drawing/2014/main" id="{8DB55517-9FA7-45E9-14E2-B4E3047AA84A}"/>
              </a:ext>
            </a:extLst>
          </p:cNvPr>
          <p:cNvSpPr/>
          <p:nvPr/>
        </p:nvSpPr>
        <p:spPr>
          <a:xfrm>
            <a:off x="1683202" y="4462043"/>
            <a:ext cx="1846053" cy="4824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err="1">
                <a:latin typeface="Arial Nova Cond" panose="020B0506020202020204" pitchFamily="34" charset="0"/>
              </a:rPr>
              <a:t>Proposal</a:t>
            </a:r>
            <a:r>
              <a:rPr lang="fr-FR" sz="1200">
                <a:latin typeface="Arial Nova Cond" panose="020B0506020202020204" pitchFamily="34" charset="0"/>
              </a:rPr>
              <a:t> </a:t>
            </a:r>
            <a:r>
              <a:rPr lang="fr-FR" sz="1200" err="1">
                <a:latin typeface="Arial Nova Cond" panose="020B0506020202020204" pitchFamily="34" charset="0"/>
              </a:rPr>
              <a:t>Build</a:t>
            </a:r>
            <a:endParaRPr lang="fr-FR" sz="1200">
              <a:latin typeface="Arial Nova Cond" panose="020B0506020202020204" pitchFamily="34" charset="0"/>
            </a:endParaRPr>
          </a:p>
        </p:txBody>
      </p:sp>
      <p:sp>
        <p:nvSpPr>
          <p:cNvPr id="108" name="Flèche : chevron 107">
            <a:extLst>
              <a:ext uri="{FF2B5EF4-FFF2-40B4-BE49-F238E27FC236}">
                <a16:creationId xmlns:a16="http://schemas.microsoft.com/office/drawing/2014/main" id="{7224BB49-8FF0-7B92-652F-9384E818B28D}"/>
              </a:ext>
            </a:extLst>
          </p:cNvPr>
          <p:cNvSpPr/>
          <p:nvPr/>
        </p:nvSpPr>
        <p:spPr>
          <a:xfrm>
            <a:off x="4964796" y="4462043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Deal </a:t>
            </a:r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Review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(DAR)</a:t>
            </a:r>
          </a:p>
        </p:txBody>
      </p: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5C66595A-2FD0-0E4E-8F3E-89C2093D59A4}"/>
              </a:ext>
            </a:extLst>
          </p:cNvPr>
          <p:cNvGrpSpPr/>
          <p:nvPr/>
        </p:nvGrpSpPr>
        <p:grpSpPr>
          <a:xfrm>
            <a:off x="7435238" y="4564747"/>
            <a:ext cx="2767107" cy="461665"/>
            <a:chOff x="7207473" y="4479402"/>
            <a:chExt cx="2767107" cy="461665"/>
          </a:xfrm>
        </p:grpSpPr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93F3E729-40DC-ED94-569F-85C73687B067}"/>
                </a:ext>
              </a:extLst>
            </p:cNvPr>
            <p:cNvGrpSpPr/>
            <p:nvPr/>
          </p:nvGrpSpPr>
          <p:grpSpPr>
            <a:xfrm>
              <a:off x="7207473" y="4483589"/>
              <a:ext cx="268625" cy="268624"/>
              <a:chOff x="6215114" y="4048714"/>
              <a:chExt cx="365127" cy="365126"/>
            </a:xfrm>
          </p:grpSpPr>
          <p:sp>
            <p:nvSpPr>
              <p:cNvPr id="112" name="Arc 111">
                <a:extLst>
                  <a:ext uri="{FF2B5EF4-FFF2-40B4-BE49-F238E27FC236}">
                    <a16:creationId xmlns:a16="http://schemas.microsoft.com/office/drawing/2014/main" id="{83BD5787-D1E8-8124-DB4D-6760A078DA6C}"/>
                  </a:ext>
                </a:extLst>
              </p:cNvPr>
              <p:cNvSpPr/>
              <p:nvPr/>
            </p:nvSpPr>
            <p:spPr>
              <a:xfrm>
                <a:off x="6215114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0485A425-09DD-22F9-6C73-361BAA58DD24}"/>
                  </a:ext>
                </a:extLst>
              </p:cNvPr>
              <p:cNvSpPr/>
              <p:nvPr/>
            </p:nvSpPr>
            <p:spPr>
              <a:xfrm rot="10800000">
                <a:off x="6215115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F0AEE0F4-7DFF-1603-E06C-F0FCF66519E8}"/>
                </a:ext>
              </a:extLst>
            </p:cNvPr>
            <p:cNvSpPr txBox="1"/>
            <p:nvPr/>
          </p:nvSpPr>
          <p:spPr>
            <a:xfrm>
              <a:off x="7497595" y="4479402"/>
              <a:ext cx="2476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Rounds of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Build</a:t>
              </a:r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 finalisation / Deal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Review</a:t>
              </a:r>
              <a:endParaRPr lang="fr-FR" sz="120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14" name="Triangle isocèle 113">
            <a:extLst>
              <a:ext uri="{FF2B5EF4-FFF2-40B4-BE49-F238E27FC236}">
                <a16:creationId xmlns:a16="http://schemas.microsoft.com/office/drawing/2014/main" id="{ABA46765-F718-9611-37AF-E73A80B176AA}"/>
              </a:ext>
            </a:extLst>
          </p:cNvPr>
          <p:cNvSpPr/>
          <p:nvPr/>
        </p:nvSpPr>
        <p:spPr>
          <a:xfrm>
            <a:off x="5265401" y="4617028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E01C2A5E-A137-B0E7-3399-7F555987DBE8}"/>
              </a:ext>
            </a:extLst>
          </p:cNvPr>
          <p:cNvGrpSpPr/>
          <p:nvPr/>
        </p:nvGrpSpPr>
        <p:grpSpPr>
          <a:xfrm>
            <a:off x="10309110" y="6314493"/>
            <a:ext cx="1427932" cy="261610"/>
            <a:chOff x="10309110" y="6314493"/>
            <a:chExt cx="1427932" cy="261610"/>
          </a:xfrm>
        </p:grpSpPr>
        <p:sp>
          <p:nvSpPr>
            <p:cNvPr id="116" name="Triangle isocèle 115">
              <a:extLst>
                <a:ext uri="{FF2B5EF4-FFF2-40B4-BE49-F238E27FC236}">
                  <a16:creationId xmlns:a16="http://schemas.microsoft.com/office/drawing/2014/main" id="{3D4F2F67-0C71-2E14-9A9E-BE501D1AA46E}"/>
                </a:ext>
              </a:extLst>
            </p:cNvPr>
            <p:cNvSpPr/>
            <p:nvPr/>
          </p:nvSpPr>
          <p:spPr>
            <a:xfrm>
              <a:off x="10309110" y="6384798"/>
              <a:ext cx="140361" cy="121001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7346BB93-FE08-F662-EDF5-8144AD21E298}"/>
                </a:ext>
              </a:extLst>
            </p:cNvPr>
            <p:cNvSpPr txBox="1"/>
            <p:nvPr/>
          </p:nvSpPr>
          <p:spPr>
            <a:xfrm>
              <a:off x="10427068" y="6314493"/>
              <a:ext cx="13099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Decision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</a:t>
              </a:r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Milestones</a:t>
              </a:r>
              <a:endParaRPr lang="fr-FR" sz="1100">
                <a:solidFill>
                  <a:schemeClr val="tx2">
                    <a:lumMod val="60000"/>
                    <a:lumOff val="40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18D3171A-7160-59B0-C30B-016FAC562069}"/>
              </a:ext>
            </a:extLst>
          </p:cNvPr>
          <p:cNvGrpSpPr/>
          <p:nvPr/>
        </p:nvGrpSpPr>
        <p:grpSpPr>
          <a:xfrm>
            <a:off x="5908169" y="6314493"/>
            <a:ext cx="810988" cy="261610"/>
            <a:chOff x="5627753" y="6314493"/>
            <a:chExt cx="810988" cy="261610"/>
          </a:xfrm>
        </p:grpSpPr>
        <p:sp>
          <p:nvSpPr>
            <p:cNvPr id="119" name="Flèche : chevron 118">
              <a:extLst>
                <a:ext uri="{FF2B5EF4-FFF2-40B4-BE49-F238E27FC236}">
                  <a16:creationId xmlns:a16="http://schemas.microsoft.com/office/drawing/2014/main" id="{BFE19B87-84AF-D64A-0163-C5D90DA36BD9}"/>
                </a:ext>
              </a:extLst>
            </p:cNvPr>
            <p:cNvSpPr/>
            <p:nvPr/>
          </p:nvSpPr>
          <p:spPr>
            <a:xfrm>
              <a:off x="5627753" y="6395773"/>
              <a:ext cx="160020" cy="99051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1BD52E76-9A9F-D171-B1F4-5A4A3BBB5D9C}"/>
                </a:ext>
              </a:extLst>
            </p:cNvPr>
            <p:cNvSpPr txBox="1"/>
            <p:nvPr/>
          </p:nvSpPr>
          <p:spPr>
            <a:xfrm>
              <a:off x="5755541" y="6314493"/>
              <a:ext cx="6832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Activities</a:t>
              </a:r>
              <a:endParaRPr lang="fr-FR" sz="1100">
                <a:solidFill>
                  <a:schemeClr val="tx2">
                    <a:lumMod val="60000"/>
                    <a:lumOff val="40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6D9B4750-8D1B-8286-C775-23A06EF6B647}"/>
              </a:ext>
            </a:extLst>
          </p:cNvPr>
          <p:cNvSpPr txBox="1"/>
          <p:nvPr/>
        </p:nvSpPr>
        <p:spPr>
          <a:xfrm>
            <a:off x="910281" y="2070106"/>
            <a:ext cx="1017907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ASSESSMENT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4C60AB0A-B27D-D243-4A89-E7BBE73673A0}"/>
              </a:ext>
            </a:extLst>
          </p:cNvPr>
          <p:cNvSpPr txBox="1"/>
          <p:nvPr/>
        </p:nvSpPr>
        <p:spPr>
          <a:xfrm>
            <a:off x="910281" y="3144421"/>
            <a:ext cx="1039965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solutioning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F7E572A-F658-E100-1140-2DB5606C9F2A}"/>
              </a:ext>
            </a:extLst>
          </p:cNvPr>
          <p:cNvSpPr txBox="1"/>
          <p:nvPr/>
        </p:nvSpPr>
        <p:spPr>
          <a:xfrm>
            <a:off x="910281" y="4218737"/>
            <a:ext cx="485710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OFFER</a:t>
            </a:r>
          </a:p>
        </p:txBody>
      </p:sp>
      <p:sp>
        <p:nvSpPr>
          <p:cNvPr id="124" name="Flèche : pentagone 123">
            <a:extLst>
              <a:ext uri="{FF2B5EF4-FFF2-40B4-BE49-F238E27FC236}">
                <a16:creationId xmlns:a16="http://schemas.microsoft.com/office/drawing/2014/main" id="{275EBFCC-7FE8-08B3-5A8A-A2733290D6F6}"/>
              </a:ext>
            </a:extLst>
          </p:cNvPr>
          <p:cNvSpPr/>
          <p:nvPr/>
        </p:nvSpPr>
        <p:spPr>
          <a:xfrm>
            <a:off x="1683202" y="3387878"/>
            <a:ext cx="1846053" cy="4824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>
                <a:latin typeface="Arial Nova Cond" panose="020B0506020202020204" pitchFamily="34" charset="0"/>
              </a:rPr>
              <a:t>Solution </a:t>
            </a:r>
            <a:r>
              <a:rPr lang="fr-FR" sz="1200" err="1">
                <a:latin typeface="Arial Nova Cond" panose="020B0506020202020204" pitchFamily="34" charset="0"/>
              </a:rPr>
              <a:t>Build</a:t>
            </a:r>
            <a:endParaRPr lang="fr-FR" sz="1200">
              <a:latin typeface="Arial Nova Cond" panose="020B0506020202020204" pitchFamily="34" charset="0"/>
            </a:endParaRPr>
          </a:p>
        </p:txBody>
      </p:sp>
      <p:sp>
        <p:nvSpPr>
          <p:cNvPr id="125" name="Flèche : chevron 124">
            <a:extLst>
              <a:ext uri="{FF2B5EF4-FFF2-40B4-BE49-F238E27FC236}">
                <a16:creationId xmlns:a16="http://schemas.microsoft.com/office/drawing/2014/main" id="{2F5B3150-3493-BD69-E1AA-A61F44DC43E1}"/>
              </a:ext>
            </a:extLst>
          </p:cNvPr>
          <p:cNvSpPr/>
          <p:nvPr/>
        </p:nvSpPr>
        <p:spPr>
          <a:xfrm>
            <a:off x="3325935" y="3387878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Solution Reco.</a:t>
            </a:r>
          </a:p>
        </p:txBody>
      </p:sp>
      <p:sp>
        <p:nvSpPr>
          <p:cNvPr id="126" name="Flèche : chevron 125">
            <a:extLst>
              <a:ext uri="{FF2B5EF4-FFF2-40B4-BE49-F238E27FC236}">
                <a16:creationId xmlns:a16="http://schemas.microsoft.com/office/drawing/2014/main" id="{3F78DDC3-46FF-AE07-8AB2-BAED72E75105}"/>
              </a:ext>
            </a:extLst>
          </p:cNvPr>
          <p:cNvSpPr/>
          <p:nvPr/>
        </p:nvSpPr>
        <p:spPr>
          <a:xfrm>
            <a:off x="6611401" y="3387878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Solution</a:t>
            </a:r>
            <a:b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</a:br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Review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7" name="Triangle isocèle 126">
            <a:extLst>
              <a:ext uri="{FF2B5EF4-FFF2-40B4-BE49-F238E27FC236}">
                <a16:creationId xmlns:a16="http://schemas.microsoft.com/office/drawing/2014/main" id="{A4AC8707-BBD3-F4B3-3D08-E84610338BA6}"/>
              </a:ext>
            </a:extLst>
          </p:cNvPr>
          <p:cNvSpPr/>
          <p:nvPr/>
        </p:nvSpPr>
        <p:spPr>
          <a:xfrm>
            <a:off x="6956937" y="3542862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9ADA8DEF-0874-90BE-99AF-37E05ED82765}"/>
              </a:ext>
            </a:extLst>
          </p:cNvPr>
          <p:cNvGrpSpPr/>
          <p:nvPr/>
        </p:nvGrpSpPr>
        <p:grpSpPr>
          <a:xfrm>
            <a:off x="9065400" y="3489002"/>
            <a:ext cx="2745005" cy="276999"/>
            <a:chOff x="7207473" y="4479402"/>
            <a:chExt cx="2745005" cy="276999"/>
          </a:xfrm>
        </p:grpSpPr>
        <p:grpSp>
          <p:nvGrpSpPr>
            <p:cNvPr id="129" name="Groupe 128">
              <a:extLst>
                <a:ext uri="{FF2B5EF4-FFF2-40B4-BE49-F238E27FC236}">
                  <a16:creationId xmlns:a16="http://schemas.microsoft.com/office/drawing/2014/main" id="{F2B64E79-81C7-8BA0-02BA-634783F56FFC}"/>
                </a:ext>
              </a:extLst>
            </p:cNvPr>
            <p:cNvGrpSpPr/>
            <p:nvPr/>
          </p:nvGrpSpPr>
          <p:grpSpPr>
            <a:xfrm>
              <a:off x="7207473" y="4483589"/>
              <a:ext cx="268625" cy="268624"/>
              <a:chOff x="6215114" y="4048714"/>
              <a:chExt cx="365127" cy="365126"/>
            </a:xfrm>
          </p:grpSpPr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0EB1430D-851A-58F5-C585-78D24D6A0F12}"/>
                  </a:ext>
                </a:extLst>
              </p:cNvPr>
              <p:cNvSpPr/>
              <p:nvPr/>
            </p:nvSpPr>
            <p:spPr>
              <a:xfrm>
                <a:off x="6215114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637A89EB-80C3-0F36-CF37-D7690923B6DC}"/>
                  </a:ext>
                </a:extLst>
              </p:cNvPr>
              <p:cNvSpPr/>
              <p:nvPr/>
            </p:nvSpPr>
            <p:spPr>
              <a:xfrm rot="10800000">
                <a:off x="6215115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52E04DFF-EABC-8A4F-8E90-7243A2DA2891}"/>
                </a:ext>
              </a:extLst>
            </p:cNvPr>
            <p:cNvSpPr txBox="1"/>
            <p:nvPr/>
          </p:nvSpPr>
          <p:spPr>
            <a:xfrm>
              <a:off x="7497595" y="4479402"/>
              <a:ext cx="24548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Rounds of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rework</a:t>
              </a:r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 / Solution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Reviews</a:t>
              </a:r>
              <a:endParaRPr lang="fr-FR" sz="120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33" name="ZoneTexte 132">
            <a:extLst>
              <a:ext uri="{FF2B5EF4-FFF2-40B4-BE49-F238E27FC236}">
                <a16:creationId xmlns:a16="http://schemas.microsoft.com/office/drawing/2014/main" id="{16803FC9-7DAB-1E59-C414-60323FDA4150}"/>
              </a:ext>
            </a:extLst>
          </p:cNvPr>
          <p:cNvSpPr txBox="1"/>
          <p:nvPr/>
        </p:nvSpPr>
        <p:spPr>
          <a:xfrm>
            <a:off x="910281" y="5293427"/>
            <a:ext cx="1035476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FINALIZATION</a:t>
            </a:r>
          </a:p>
        </p:txBody>
      </p:sp>
      <p:sp>
        <p:nvSpPr>
          <p:cNvPr id="134" name="Flèche : chevron 133">
            <a:extLst>
              <a:ext uri="{FF2B5EF4-FFF2-40B4-BE49-F238E27FC236}">
                <a16:creationId xmlns:a16="http://schemas.microsoft.com/office/drawing/2014/main" id="{4B5DBCC6-F3F5-BC95-09AB-799F029CD7DB}"/>
              </a:ext>
            </a:extLst>
          </p:cNvPr>
          <p:cNvSpPr/>
          <p:nvPr/>
        </p:nvSpPr>
        <p:spPr>
          <a:xfrm>
            <a:off x="4968668" y="3386118"/>
            <a:ext cx="1846053" cy="482405"/>
          </a:xfrm>
          <a:prstGeom prst="chevron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Delivery</a:t>
            </a:r>
          </a:p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Visa</a:t>
            </a:r>
          </a:p>
        </p:txBody>
      </p:sp>
      <p:sp>
        <p:nvSpPr>
          <p:cNvPr id="135" name="Forme libre : forme 134">
            <a:extLst>
              <a:ext uri="{FF2B5EF4-FFF2-40B4-BE49-F238E27FC236}">
                <a16:creationId xmlns:a16="http://schemas.microsoft.com/office/drawing/2014/main" id="{06758D9A-DA15-A546-366D-3A571FBDCF16}"/>
              </a:ext>
            </a:extLst>
          </p:cNvPr>
          <p:cNvSpPr/>
          <p:nvPr/>
        </p:nvSpPr>
        <p:spPr>
          <a:xfrm>
            <a:off x="3707635" y="2458926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6" name="Forme libre : forme 135">
            <a:extLst>
              <a:ext uri="{FF2B5EF4-FFF2-40B4-BE49-F238E27FC236}">
                <a16:creationId xmlns:a16="http://schemas.microsoft.com/office/drawing/2014/main" id="{49136806-6735-A3D9-7129-310796AE5255}"/>
              </a:ext>
            </a:extLst>
          </p:cNvPr>
          <p:cNvSpPr/>
          <p:nvPr/>
        </p:nvSpPr>
        <p:spPr>
          <a:xfrm>
            <a:off x="3707635" y="3539398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7" name="Forme libre : forme 136">
            <a:extLst>
              <a:ext uri="{FF2B5EF4-FFF2-40B4-BE49-F238E27FC236}">
                <a16:creationId xmlns:a16="http://schemas.microsoft.com/office/drawing/2014/main" id="{B3ADE3EE-C861-F940-A742-E07CDAF94813}"/>
              </a:ext>
            </a:extLst>
          </p:cNvPr>
          <p:cNvSpPr/>
          <p:nvPr/>
        </p:nvSpPr>
        <p:spPr>
          <a:xfrm rot="18900000">
            <a:off x="5352219" y="3531191"/>
            <a:ext cx="192937" cy="122809"/>
          </a:xfrm>
          <a:custGeom>
            <a:avLst/>
            <a:gdLst>
              <a:gd name="connsiteX0" fmla="*/ 0 w 229235"/>
              <a:gd name="connsiteY0" fmla="*/ 0 h 145913"/>
              <a:gd name="connsiteX1" fmla="*/ 45719 w 229235"/>
              <a:gd name="connsiteY1" fmla="*/ 0 h 145913"/>
              <a:gd name="connsiteX2" fmla="*/ 45719 w 229235"/>
              <a:gd name="connsiteY2" fmla="*/ 98436 h 145913"/>
              <a:gd name="connsiteX3" fmla="*/ 229235 w 229235"/>
              <a:gd name="connsiteY3" fmla="*/ 98436 h 145913"/>
              <a:gd name="connsiteX4" fmla="*/ 229235 w 229235"/>
              <a:gd name="connsiteY4" fmla="*/ 145913 h 145913"/>
              <a:gd name="connsiteX5" fmla="*/ 1 w 229235"/>
              <a:gd name="connsiteY5" fmla="*/ 145913 h 145913"/>
              <a:gd name="connsiteX6" fmla="*/ 1 w 229235"/>
              <a:gd name="connsiteY6" fmla="*/ 144151 h 145913"/>
              <a:gd name="connsiteX7" fmla="*/ 0 w 229235"/>
              <a:gd name="connsiteY7" fmla="*/ 144151 h 14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235" h="145913">
                <a:moveTo>
                  <a:pt x="0" y="0"/>
                </a:moveTo>
                <a:lnTo>
                  <a:pt x="45719" y="0"/>
                </a:lnTo>
                <a:lnTo>
                  <a:pt x="45719" y="98436"/>
                </a:lnTo>
                <a:lnTo>
                  <a:pt x="229235" y="98436"/>
                </a:lnTo>
                <a:lnTo>
                  <a:pt x="229235" y="145913"/>
                </a:lnTo>
                <a:lnTo>
                  <a:pt x="1" y="145913"/>
                </a:lnTo>
                <a:lnTo>
                  <a:pt x="1" y="144151"/>
                </a:lnTo>
                <a:lnTo>
                  <a:pt x="0" y="1441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8" name="Flèche : chevron 137">
            <a:extLst>
              <a:ext uri="{FF2B5EF4-FFF2-40B4-BE49-F238E27FC236}">
                <a16:creationId xmlns:a16="http://schemas.microsoft.com/office/drawing/2014/main" id="{D432BF84-01D8-F3B6-378D-F068B49DC038}"/>
              </a:ext>
            </a:extLst>
          </p:cNvPr>
          <p:cNvSpPr/>
          <p:nvPr/>
        </p:nvSpPr>
        <p:spPr>
          <a:xfrm>
            <a:off x="3323999" y="4464678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" rIns="36000" bIns="36000" rtlCol="0" anchor="ctr"/>
          <a:lstStyle/>
          <a:p>
            <a:pPr algn="ctr"/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Proposal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9" name="Forme libre : forme 138">
            <a:extLst>
              <a:ext uri="{FF2B5EF4-FFF2-40B4-BE49-F238E27FC236}">
                <a16:creationId xmlns:a16="http://schemas.microsoft.com/office/drawing/2014/main" id="{C3F927C8-EA76-261C-4E4A-131ECACE5487}"/>
              </a:ext>
            </a:extLst>
          </p:cNvPr>
          <p:cNvSpPr/>
          <p:nvPr/>
        </p:nvSpPr>
        <p:spPr>
          <a:xfrm>
            <a:off x="3707635" y="4607320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8D941D4D-1C97-CF30-5E24-A8EE6C68CE88}"/>
              </a:ext>
            </a:extLst>
          </p:cNvPr>
          <p:cNvGrpSpPr/>
          <p:nvPr/>
        </p:nvGrpSpPr>
        <p:grpSpPr>
          <a:xfrm>
            <a:off x="6962794" y="6314493"/>
            <a:ext cx="1539319" cy="261610"/>
            <a:chOff x="6868355" y="6314493"/>
            <a:chExt cx="1539319" cy="261610"/>
          </a:xfrm>
        </p:grpSpPr>
        <p:sp>
          <p:nvSpPr>
            <p:cNvPr id="141" name="Forme libre : forme 140">
              <a:extLst>
                <a:ext uri="{FF2B5EF4-FFF2-40B4-BE49-F238E27FC236}">
                  <a16:creationId xmlns:a16="http://schemas.microsoft.com/office/drawing/2014/main" id="{B4A0189C-2D26-CC86-86D7-02796FFC0B87}"/>
                </a:ext>
              </a:extLst>
            </p:cNvPr>
            <p:cNvSpPr/>
            <p:nvPr/>
          </p:nvSpPr>
          <p:spPr>
            <a:xfrm>
              <a:off x="6868355" y="6361578"/>
              <a:ext cx="116034" cy="137745"/>
            </a:xfrm>
            <a:custGeom>
              <a:avLst/>
              <a:gdLst>
                <a:gd name="connsiteX0" fmla="*/ 0 w 153248"/>
                <a:gd name="connsiteY0" fmla="*/ 0 h 181922"/>
                <a:gd name="connsiteX1" fmla="*/ 119380 w 153248"/>
                <a:gd name="connsiteY1" fmla="*/ 0 h 181922"/>
                <a:gd name="connsiteX2" fmla="*/ 119380 w 153248"/>
                <a:gd name="connsiteY2" fmla="*/ 35850 h 181922"/>
                <a:gd name="connsiteX3" fmla="*/ 153248 w 153248"/>
                <a:gd name="connsiteY3" fmla="*/ 35850 h 181922"/>
                <a:gd name="connsiteX4" fmla="*/ 153248 w 153248"/>
                <a:gd name="connsiteY4" fmla="*/ 181922 h 181922"/>
                <a:gd name="connsiteX5" fmla="*/ 0 w 153248"/>
                <a:gd name="connsiteY5" fmla="*/ 181922 h 18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248" h="181922">
                  <a:moveTo>
                    <a:pt x="0" y="0"/>
                  </a:moveTo>
                  <a:lnTo>
                    <a:pt x="119380" y="0"/>
                  </a:lnTo>
                  <a:lnTo>
                    <a:pt x="119380" y="35850"/>
                  </a:lnTo>
                  <a:lnTo>
                    <a:pt x="153248" y="35850"/>
                  </a:lnTo>
                  <a:lnTo>
                    <a:pt x="153248" y="181922"/>
                  </a:lnTo>
                  <a:lnTo>
                    <a:pt x="0" y="18192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ED020116-086A-016E-33A4-E1F24094EF3B}"/>
                </a:ext>
              </a:extLst>
            </p:cNvPr>
            <p:cNvSpPr txBox="1"/>
            <p:nvPr/>
          </p:nvSpPr>
          <p:spPr>
            <a:xfrm>
              <a:off x="6966254" y="6314493"/>
              <a:ext cx="1441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Mandatory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documents</a:t>
              </a:r>
            </a:p>
          </p:txBody>
        </p:sp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2BFF8EBA-0DAD-E20D-BCB0-C5746CF4D05E}"/>
              </a:ext>
            </a:extLst>
          </p:cNvPr>
          <p:cNvGrpSpPr/>
          <p:nvPr/>
        </p:nvGrpSpPr>
        <p:grpSpPr>
          <a:xfrm>
            <a:off x="8745750" y="6314493"/>
            <a:ext cx="1319722" cy="261610"/>
            <a:chOff x="8502576" y="6314493"/>
            <a:chExt cx="1319722" cy="261610"/>
          </a:xfrm>
        </p:grpSpPr>
        <p:sp>
          <p:nvSpPr>
            <p:cNvPr id="144" name="Forme libre : forme 143">
              <a:extLst>
                <a:ext uri="{FF2B5EF4-FFF2-40B4-BE49-F238E27FC236}">
                  <a16:creationId xmlns:a16="http://schemas.microsoft.com/office/drawing/2014/main" id="{0451587A-1689-CF99-3B89-940CE4B8C63A}"/>
                </a:ext>
              </a:extLst>
            </p:cNvPr>
            <p:cNvSpPr/>
            <p:nvPr/>
          </p:nvSpPr>
          <p:spPr>
            <a:xfrm rot="18900000">
              <a:off x="8502576" y="6383956"/>
              <a:ext cx="146085" cy="92987"/>
            </a:xfrm>
            <a:custGeom>
              <a:avLst/>
              <a:gdLst>
                <a:gd name="connsiteX0" fmla="*/ 0 w 229235"/>
                <a:gd name="connsiteY0" fmla="*/ 0 h 145913"/>
                <a:gd name="connsiteX1" fmla="*/ 45719 w 229235"/>
                <a:gd name="connsiteY1" fmla="*/ 0 h 145913"/>
                <a:gd name="connsiteX2" fmla="*/ 45719 w 229235"/>
                <a:gd name="connsiteY2" fmla="*/ 98436 h 145913"/>
                <a:gd name="connsiteX3" fmla="*/ 229235 w 229235"/>
                <a:gd name="connsiteY3" fmla="*/ 98436 h 145913"/>
                <a:gd name="connsiteX4" fmla="*/ 229235 w 229235"/>
                <a:gd name="connsiteY4" fmla="*/ 145913 h 145913"/>
                <a:gd name="connsiteX5" fmla="*/ 1 w 229235"/>
                <a:gd name="connsiteY5" fmla="*/ 145913 h 145913"/>
                <a:gd name="connsiteX6" fmla="*/ 1 w 229235"/>
                <a:gd name="connsiteY6" fmla="*/ 144151 h 145913"/>
                <a:gd name="connsiteX7" fmla="*/ 0 w 229235"/>
                <a:gd name="connsiteY7" fmla="*/ 144151 h 14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235" h="145913">
                  <a:moveTo>
                    <a:pt x="0" y="0"/>
                  </a:moveTo>
                  <a:lnTo>
                    <a:pt x="45719" y="0"/>
                  </a:lnTo>
                  <a:lnTo>
                    <a:pt x="45719" y="98436"/>
                  </a:lnTo>
                  <a:lnTo>
                    <a:pt x="229235" y="98436"/>
                  </a:lnTo>
                  <a:lnTo>
                    <a:pt x="229235" y="145913"/>
                  </a:lnTo>
                  <a:lnTo>
                    <a:pt x="1" y="145913"/>
                  </a:lnTo>
                  <a:lnTo>
                    <a:pt x="1" y="144151"/>
                  </a:lnTo>
                  <a:lnTo>
                    <a:pt x="0" y="14415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7F78E0D9-4CFD-7C79-9BE0-1D10F3E114FD}"/>
                </a:ext>
              </a:extLst>
            </p:cNvPr>
            <p:cNvSpPr txBox="1"/>
            <p:nvPr/>
          </p:nvSpPr>
          <p:spPr>
            <a:xfrm>
              <a:off x="8613313" y="6314493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Mandatory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checks</a:t>
              </a:r>
            </a:p>
          </p:txBody>
        </p:sp>
      </p:grpSp>
      <p:grpSp>
        <p:nvGrpSpPr>
          <p:cNvPr id="146" name="Groupe 145">
            <a:extLst>
              <a:ext uri="{FF2B5EF4-FFF2-40B4-BE49-F238E27FC236}">
                <a16:creationId xmlns:a16="http://schemas.microsoft.com/office/drawing/2014/main" id="{E359AF7F-74DB-AE2F-0393-6E4BFB5D665B}"/>
              </a:ext>
            </a:extLst>
          </p:cNvPr>
          <p:cNvGrpSpPr/>
          <p:nvPr/>
        </p:nvGrpSpPr>
        <p:grpSpPr>
          <a:xfrm>
            <a:off x="6611400" y="5536209"/>
            <a:ext cx="1846053" cy="482405"/>
            <a:chOff x="6611400" y="5536209"/>
            <a:chExt cx="1846053" cy="482405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80AAB63-E743-47C8-720C-0C79AE2BF2B4}"/>
                </a:ext>
              </a:extLst>
            </p:cNvPr>
            <p:cNvSpPr/>
            <p:nvPr/>
          </p:nvSpPr>
          <p:spPr>
            <a:xfrm>
              <a:off x="8181975" y="5536209"/>
              <a:ext cx="275478" cy="4823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148" name="Flèche : chevron 147">
              <a:extLst>
                <a:ext uri="{FF2B5EF4-FFF2-40B4-BE49-F238E27FC236}">
                  <a16:creationId xmlns:a16="http://schemas.microsoft.com/office/drawing/2014/main" id="{0DB4C79C-98D0-14C3-6D77-FCFC0609C094}"/>
                </a:ext>
              </a:extLst>
            </p:cNvPr>
            <p:cNvSpPr/>
            <p:nvPr/>
          </p:nvSpPr>
          <p:spPr>
            <a:xfrm>
              <a:off x="6611400" y="5536209"/>
              <a:ext cx="1846053" cy="482405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Win/</a:t>
              </a: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Loss</a:t>
              </a:r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 </a:t>
              </a: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Review</a:t>
              </a:r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49" name="Flèche : pentagone 148">
            <a:extLst>
              <a:ext uri="{FF2B5EF4-FFF2-40B4-BE49-F238E27FC236}">
                <a16:creationId xmlns:a16="http://schemas.microsoft.com/office/drawing/2014/main" id="{2EB6E38E-B87D-C111-7BB1-AE57E4E6C4B9}"/>
              </a:ext>
            </a:extLst>
          </p:cNvPr>
          <p:cNvSpPr/>
          <p:nvPr/>
        </p:nvSpPr>
        <p:spPr>
          <a:xfrm>
            <a:off x="1683202" y="1239548"/>
            <a:ext cx="1846053" cy="482405"/>
          </a:xfrm>
          <a:prstGeom prst="homePlate">
            <a:avLst/>
          </a:prstGeom>
          <a:solidFill>
            <a:srgbClr val="44B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36000" rIns="36000" bIns="36000" rtlCol="0" anchor="ctr"/>
          <a:lstStyle/>
          <a:p>
            <a:pPr algn="ctr"/>
            <a:r>
              <a:rPr lang="fr-FR" sz="1200" err="1">
                <a:latin typeface="Arial Nova Cond" panose="020B0506020202020204" pitchFamily="34" charset="0"/>
              </a:rPr>
              <a:t>Selected</a:t>
            </a:r>
            <a:endParaRPr lang="fr-FR" sz="1200">
              <a:latin typeface="Arial Nova Cond" panose="020B0506020202020204" pitchFamily="34" charset="0"/>
            </a:endParaRPr>
          </a:p>
          <a:p>
            <a:pPr algn="ctr"/>
            <a:r>
              <a:rPr lang="fr-FR" sz="1200">
                <a:latin typeface="Arial Nova Cond" panose="020B0506020202020204" pitchFamily="34" charset="0"/>
              </a:rPr>
              <a:t>Opportunity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232E1C3F-45BB-3A86-5018-EBCC4F7FC642}"/>
              </a:ext>
            </a:extLst>
          </p:cNvPr>
          <p:cNvSpPr txBox="1"/>
          <p:nvPr/>
        </p:nvSpPr>
        <p:spPr>
          <a:xfrm>
            <a:off x="910281" y="941791"/>
            <a:ext cx="1138068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 err="1">
                <a:solidFill>
                  <a:schemeClr val="accent5">
                    <a:lumMod val="50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INitialization</a:t>
            </a:r>
            <a:endParaRPr lang="fr-FR" sz="1400" b="1" cap="all">
              <a:solidFill>
                <a:schemeClr val="accent5">
                  <a:lumMod val="50000"/>
                </a:schemeClr>
              </a:solidFill>
              <a:latin typeface="Arial Nova Cond" panose="020B0506020202020204" pitchFamily="34" charset="0"/>
              <a:ea typeface="Inter-Bold" panose="02000803000000020004" pitchFamily="50" charset="0"/>
            </a:endParaRPr>
          </a:p>
        </p:txBody>
      </p:sp>
      <p:sp>
        <p:nvSpPr>
          <p:cNvPr id="151" name="Triangle isocèle 150">
            <a:extLst>
              <a:ext uri="{FF2B5EF4-FFF2-40B4-BE49-F238E27FC236}">
                <a16:creationId xmlns:a16="http://schemas.microsoft.com/office/drawing/2014/main" id="{9E92466B-DB4E-B9B6-50FE-4E76A5E84E7B}"/>
              </a:ext>
            </a:extLst>
          </p:cNvPr>
          <p:cNvSpPr/>
          <p:nvPr/>
        </p:nvSpPr>
        <p:spPr>
          <a:xfrm>
            <a:off x="1929097" y="1394128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22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solutioning</a:t>
            </a:r>
            <a:r>
              <a:rPr lang="fr-FR" sz="2800"/>
              <a:t> Stakeholders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The </a:t>
            </a:r>
            <a:r>
              <a:rPr lang="fr-CH" err="1"/>
              <a:t>bid</a:t>
            </a:r>
            <a:r>
              <a:rPr lang="fr-CH"/>
              <a:t> manager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The team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Who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involved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solutioning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?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F11EE00B-C64D-94DB-59A4-F1C1BE50A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1655F33D-B2C4-83CE-89E5-E46E4CB97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693170"/>
              </p:ext>
            </p:extLst>
          </p:nvPr>
        </p:nvGraphicFramePr>
        <p:xfrm>
          <a:off x="974033" y="2946296"/>
          <a:ext cx="10430070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28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745281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22444307"/>
                    </a:ext>
                  </a:extLst>
                </a:gridCol>
                <a:gridCol w="3125972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196847">
                  <a:extLst>
                    <a:ext uri="{9D8B030D-6E8A-4147-A177-3AD203B41FA5}">
                      <a16:colId xmlns:a16="http://schemas.microsoft.com/office/drawing/2014/main" val="1974363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Firstname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LASTNAME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3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Job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title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31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Entity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Role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on the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presale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MD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Workload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CA3BFBE0-4FC0-7629-DC4E-091CA76A0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701766"/>
              </p:ext>
            </p:extLst>
          </p:nvPr>
        </p:nvGraphicFramePr>
        <p:xfrm>
          <a:off x="974033" y="1688922"/>
          <a:ext cx="7304098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28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745281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22444307"/>
                    </a:ext>
                  </a:extLst>
                </a:gridCol>
                <a:gridCol w="1196847">
                  <a:extLst>
                    <a:ext uri="{9D8B030D-6E8A-4147-A177-3AD203B41FA5}">
                      <a16:colId xmlns:a16="http://schemas.microsoft.com/office/drawing/2014/main" val="1974363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Firstname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LASTNAME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3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Job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title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Entity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MD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Workload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</a:tbl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18C17AF2-4369-4D26-13CD-76278252567F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CAAE0-08B8-6204-0888-A1550A1F23F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7BB0F7-F499-58FB-A6F7-0397C8EC980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747EDAB-DF2D-7AA2-DBC5-59EBC5A47C8D}"/>
              </a:ext>
            </a:extLst>
          </p:cNvPr>
          <p:cNvGrpSpPr/>
          <p:nvPr/>
        </p:nvGrpSpPr>
        <p:grpSpPr>
          <a:xfrm>
            <a:off x="5371719" y="5417413"/>
            <a:ext cx="3552825" cy="966589"/>
            <a:chOff x="5739511" y="1663757"/>
            <a:chExt cx="3552825" cy="966589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480E623-51A3-6AD5-9DDB-92757AAEE1AC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966588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You can copy/paste </a:t>
              </a:r>
              <a:r>
                <a:rPr lang="fr-FR" sz="1200" err="1">
                  <a:solidFill>
                    <a:srgbClr val="336699"/>
                  </a:solidFill>
                </a:rPr>
                <a:t>here</a:t>
              </a:r>
              <a:r>
                <a:rPr lang="fr-FR" sz="1200">
                  <a:solidFill>
                    <a:srgbClr val="336699"/>
                  </a:solidFill>
                </a:rPr>
                <a:t> the last slide of the Go/No Go PPT </a:t>
              </a:r>
              <a:r>
                <a:rPr lang="fr-FR" sz="1200" err="1">
                  <a:solidFill>
                    <a:srgbClr val="336699"/>
                  </a:solidFill>
                </a:rPr>
                <a:t>presentation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Vous pouvez réutiliser le dernier slide de la présentation de Go/No Go.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9B6A59-1B2A-3DC8-BEEA-1383905763A8}"/>
                </a:ext>
              </a:extLst>
            </p:cNvPr>
            <p:cNvSpPr/>
            <p:nvPr/>
          </p:nvSpPr>
          <p:spPr>
            <a:xfrm>
              <a:off x="5739511" y="1663757"/>
              <a:ext cx="467360" cy="966587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72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Requested</a:t>
            </a:r>
            <a:r>
              <a:rPr lang="fr-FR" sz="2800"/>
              <a:t> </a:t>
            </a:r>
            <a:r>
              <a:rPr lang="fr-FR" sz="2800" err="1"/>
              <a:t>material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Outputs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Who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provides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what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response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?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BAD4CD01-4960-DF7F-A22E-6DCCC5CDE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B60348FB-BF7F-2ECA-3B7E-830CBB238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66189"/>
              </p:ext>
            </p:extLst>
          </p:nvPr>
        </p:nvGraphicFramePr>
        <p:xfrm>
          <a:off x="974033" y="1791310"/>
          <a:ext cx="10430073" cy="39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69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3476691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3476691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Documents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Firstname</a:t>
                      </a: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LASTNAME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Details about expectations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52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53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74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093942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2993307F-C7B0-2A50-773C-D40F4DEC6815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EAD6B5-EB84-E79F-FCDF-6B9ED89DD0BE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A392FF-3690-5D85-C3D8-4D73D8EB2943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8FD5578-9875-9678-85BE-3F3D6133C077}"/>
              </a:ext>
            </a:extLst>
          </p:cNvPr>
          <p:cNvGrpSpPr/>
          <p:nvPr/>
        </p:nvGrpSpPr>
        <p:grpSpPr>
          <a:xfrm>
            <a:off x="7148131" y="5090862"/>
            <a:ext cx="3552825" cy="1320532"/>
            <a:chOff x="5739511" y="1663757"/>
            <a:chExt cx="3552825" cy="1320532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641F9A5-FF27-73EF-6317-4B4AD6463ACA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320531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It can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helpful</a:t>
              </a:r>
              <a:r>
                <a:rPr lang="fr-FR" sz="1200">
                  <a:solidFill>
                    <a:srgbClr val="336699"/>
                  </a:solidFill>
                </a:rPr>
                <a:t> to </a:t>
              </a:r>
              <a:r>
                <a:rPr lang="fr-FR" sz="1200" err="1">
                  <a:solidFill>
                    <a:srgbClr val="336699"/>
                  </a:solidFill>
                </a:rPr>
                <a:t>assign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work</a:t>
              </a:r>
              <a:r>
                <a:rPr lang="fr-FR" sz="1200">
                  <a:solidFill>
                    <a:srgbClr val="336699"/>
                  </a:solidFill>
                </a:rPr>
                <a:t> to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done</a:t>
              </a:r>
              <a:r>
                <a:rPr lang="fr-FR" sz="1200">
                  <a:solidFill>
                    <a:srgbClr val="336699"/>
                  </a:solidFill>
                </a:rPr>
                <a:t> to the </a:t>
              </a:r>
              <a:r>
                <a:rPr lang="fr-FR" sz="1200" err="1">
                  <a:solidFill>
                    <a:srgbClr val="336699"/>
                  </a:solidFill>
                </a:rPr>
                <a:t>bid</a:t>
              </a:r>
              <a:r>
                <a:rPr lang="fr-FR" sz="1200">
                  <a:solidFill>
                    <a:srgbClr val="336699"/>
                  </a:solidFill>
                </a:rPr>
                <a:t> team </a:t>
              </a:r>
              <a:r>
                <a:rPr lang="fr-FR" sz="1200" err="1">
                  <a:solidFill>
                    <a:srgbClr val="336699"/>
                  </a:solidFill>
                </a:rPr>
                <a:t>members</a:t>
              </a:r>
              <a:r>
                <a:rPr lang="fr-FR" sz="1200">
                  <a:solidFill>
                    <a:srgbClr val="336699"/>
                  </a:solidFill>
                </a:rPr>
                <a:t> at the start of the </a:t>
              </a:r>
              <a:r>
                <a:rPr lang="fr-FR" sz="1200" err="1">
                  <a:solidFill>
                    <a:srgbClr val="336699"/>
                  </a:solidFill>
                </a:rPr>
                <a:t>solutioning</a:t>
              </a:r>
              <a:r>
                <a:rPr lang="fr-FR" sz="1200">
                  <a:solidFill>
                    <a:srgbClr val="336699"/>
                  </a:solidFill>
                </a:rPr>
                <a:t> phase.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Vous pouvez utiliser ce slide pour répartir les tâches dans l’équipe de réponse dès le démarrage de la phase de </a:t>
              </a:r>
              <a:r>
                <a:rPr lang="fr-FR" sz="1100" b="0" i="1" err="1">
                  <a:solidFill>
                    <a:srgbClr val="336699"/>
                  </a:solidFill>
                </a:rPr>
                <a:t>solutioning</a:t>
              </a:r>
              <a:r>
                <a:rPr lang="fr-FR" sz="1100" b="0" i="1">
                  <a:solidFill>
                    <a:srgbClr val="336699"/>
                  </a:solidFill>
                </a:rPr>
                <a:t>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77E6E6-6FB0-A7AB-3BC2-6403368CA92F}"/>
                </a:ext>
              </a:extLst>
            </p:cNvPr>
            <p:cNvSpPr/>
            <p:nvPr/>
          </p:nvSpPr>
          <p:spPr>
            <a:xfrm>
              <a:off x="5739511" y="1663757"/>
              <a:ext cx="467360" cy="1320531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512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Context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Our </a:t>
            </a:r>
            <a:r>
              <a:rPr lang="fr-FR" err="1"/>
              <a:t>understanding</a:t>
            </a:r>
            <a:r>
              <a:rPr lang="fr-FR"/>
              <a:t> of the </a:t>
            </a:r>
            <a:r>
              <a:rPr lang="fr-FR" err="1"/>
              <a:t>Client’s</a:t>
            </a:r>
            <a:r>
              <a:rPr lang="fr-FR"/>
              <a:t> Brief, objectives and </a:t>
            </a:r>
            <a:r>
              <a:rPr lang="fr-FR" err="1"/>
              <a:t>stakes</a:t>
            </a:r>
            <a:endParaRPr lang="fr-FR"/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Notre compréhension de la demande client, ses objectifs et enjeux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/>
              <a:t>Have </a:t>
            </a:r>
            <a:r>
              <a:rPr lang="fr-FR" err="1"/>
              <a:t>we</a:t>
            </a:r>
            <a:r>
              <a:rPr lang="fr-FR"/>
              <a:t> </a:t>
            </a:r>
            <a:r>
              <a:rPr lang="fr-FR" err="1"/>
              <a:t>discussed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the client? </a:t>
            </a:r>
            <a:r>
              <a:rPr lang="fr-FR" err="1"/>
              <a:t>What</a:t>
            </a:r>
            <a:r>
              <a:rPr lang="fr-FR"/>
              <a:t> are the </a:t>
            </a:r>
            <a:r>
              <a:rPr lang="fr-FR" err="1"/>
              <a:t>outcomes</a:t>
            </a:r>
            <a:r>
              <a:rPr lang="fr-FR"/>
              <a:t>?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Avons-nous discuté avec le client ? Qu’avons-nous appris de plus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 err="1"/>
              <a:t>What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the </a:t>
            </a:r>
            <a:r>
              <a:rPr lang="fr-FR" err="1"/>
              <a:t>target</a:t>
            </a:r>
            <a:r>
              <a:rPr lang="fr-FR"/>
              <a:t> price </a:t>
            </a:r>
            <a:r>
              <a:rPr lang="fr-FR" err="1"/>
              <a:t>shared</a:t>
            </a:r>
            <a:r>
              <a:rPr lang="fr-FR"/>
              <a:t> by Sales?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Quel est le budget cible communiqué par les commerciaux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Give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insights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which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support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our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vision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27BD917F-91CE-7C1C-80B8-D110CD3B9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D9981F45-7C80-A930-FDCD-0162548C7959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BB760E-6B45-49CB-9BFA-38D39056C8C0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0855BE-3E26-63F0-EAB0-193784CE7134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E6B14DA-431A-C031-F195-B4D09B0BF7FF}"/>
              </a:ext>
            </a:extLst>
          </p:cNvPr>
          <p:cNvGrpSpPr/>
          <p:nvPr/>
        </p:nvGrpSpPr>
        <p:grpSpPr>
          <a:xfrm>
            <a:off x="7148130" y="4721287"/>
            <a:ext cx="3552825" cy="874256"/>
            <a:chOff x="5739511" y="1663757"/>
            <a:chExt cx="3552825" cy="874256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04F7868-1499-B64F-B6C4-208E4983D7E1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87425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err="1">
                  <a:solidFill>
                    <a:srgbClr val="336699"/>
                  </a:solidFill>
                </a:rPr>
                <a:t>Take</a:t>
              </a:r>
              <a:r>
                <a:rPr lang="fr-FR" sz="1200">
                  <a:solidFill>
                    <a:srgbClr val="336699"/>
                  </a:solidFill>
                </a:rPr>
                <a:t> care of </a:t>
              </a:r>
              <a:r>
                <a:rPr lang="fr-FR" sz="1200" err="1">
                  <a:solidFill>
                    <a:srgbClr val="336699"/>
                  </a:solidFill>
                </a:rPr>
                <a:t>target</a:t>
              </a:r>
              <a:r>
                <a:rPr lang="fr-FR" sz="1200">
                  <a:solidFill>
                    <a:srgbClr val="336699"/>
                  </a:solidFill>
                </a:rPr>
                <a:t> price: </a:t>
              </a:r>
              <a:r>
                <a:rPr lang="fr-FR" sz="1200" err="1">
                  <a:solidFill>
                    <a:srgbClr val="336699"/>
                  </a:solidFill>
                </a:rPr>
                <a:t>you</a:t>
              </a:r>
              <a:r>
                <a:rPr lang="fr-FR" sz="1200">
                  <a:solidFill>
                    <a:srgbClr val="336699"/>
                  </a:solidFill>
                </a:rPr>
                <a:t> must know </a:t>
              </a:r>
              <a:r>
                <a:rPr lang="fr-FR" sz="1200" err="1">
                  <a:solidFill>
                    <a:srgbClr val="336699"/>
                  </a:solidFill>
                </a:rPr>
                <a:t>it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before</a:t>
              </a:r>
              <a:r>
                <a:rPr lang="fr-FR" sz="1200">
                  <a:solidFill>
                    <a:srgbClr val="336699"/>
                  </a:solidFill>
                </a:rPr>
                <a:t> starting!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Attention : le Budget cible doit être connu !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CC63CF-B79D-C3BC-7303-C9AAE49E44CD}"/>
                </a:ext>
              </a:extLst>
            </p:cNvPr>
            <p:cNvSpPr/>
            <p:nvPr/>
          </p:nvSpPr>
          <p:spPr>
            <a:xfrm>
              <a:off x="5739511" y="1663757"/>
              <a:ext cx="467360" cy="87425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F456D46-2EF1-40C8-D160-BA92A1B072E7}"/>
              </a:ext>
            </a:extLst>
          </p:cNvPr>
          <p:cNvGrpSpPr/>
          <p:nvPr/>
        </p:nvGrpSpPr>
        <p:grpSpPr>
          <a:xfrm>
            <a:off x="7148131" y="2745062"/>
            <a:ext cx="3552825" cy="1566753"/>
            <a:chOff x="5739511" y="1663757"/>
            <a:chExt cx="3552825" cy="1566753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BFE3567F-F77A-850B-F9A6-7B1D4085265A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566752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A contact </a:t>
              </a:r>
              <a:r>
                <a:rPr lang="fr-FR" sz="1200" err="1">
                  <a:solidFill>
                    <a:srgbClr val="336699"/>
                  </a:solidFill>
                </a:rPr>
                <a:t>with</a:t>
              </a:r>
              <a:r>
                <a:rPr lang="fr-FR" sz="1200">
                  <a:solidFill>
                    <a:srgbClr val="336699"/>
                  </a:solidFill>
                </a:rPr>
                <a:t> the client </a:t>
              </a:r>
              <a:r>
                <a:rPr lang="fr-FR" sz="1200" err="1">
                  <a:solidFill>
                    <a:srgbClr val="336699"/>
                  </a:solidFill>
                </a:rPr>
                <a:t>should</a:t>
              </a:r>
              <a:r>
                <a:rPr lang="fr-FR" sz="1200">
                  <a:solidFill>
                    <a:srgbClr val="336699"/>
                  </a:solidFill>
                </a:rPr>
                <a:t> have been made by the Sales team, to </a:t>
              </a:r>
              <a:r>
                <a:rPr lang="fr-FR" sz="1200" err="1">
                  <a:solidFill>
                    <a:srgbClr val="336699"/>
                  </a:solidFill>
                </a:rPr>
                <a:t>get</a:t>
              </a:r>
              <a:r>
                <a:rPr lang="fr-FR" sz="1200">
                  <a:solidFill>
                    <a:srgbClr val="336699"/>
                  </a:solidFill>
                </a:rPr>
                <a:t> the maximum information </a:t>
              </a:r>
              <a:r>
                <a:rPr lang="fr-FR" sz="1200" err="1">
                  <a:solidFill>
                    <a:srgbClr val="336699"/>
                  </a:solidFill>
                </a:rPr>
                <a:t>we</a:t>
              </a:r>
              <a:r>
                <a:rPr lang="fr-FR" sz="1200">
                  <a:solidFill>
                    <a:srgbClr val="336699"/>
                  </a:solidFill>
                </a:rPr>
                <a:t> can. 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Une prise de contact avec le client doit a minima avoir été tentée par la force commerciale, pour obtenir un maximum d’information. Merci de vérifier.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372656-F87F-ADB9-A922-1579393CE587}"/>
                </a:ext>
              </a:extLst>
            </p:cNvPr>
            <p:cNvSpPr/>
            <p:nvPr/>
          </p:nvSpPr>
          <p:spPr>
            <a:xfrm>
              <a:off x="5739511" y="1663757"/>
              <a:ext cx="467360" cy="1566752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64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Take</a:t>
            </a:r>
            <a:r>
              <a:rPr lang="fr-FR" sz="2800"/>
              <a:t> a </a:t>
            </a:r>
            <a:r>
              <a:rPr lang="fr-FR" sz="2800" err="1"/>
              <a:t>step</a:t>
            </a:r>
            <a:r>
              <a:rPr lang="fr-FR" sz="2800"/>
              <a:t> </a:t>
            </a:r>
            <a:r>
              <a:rPr lang="fr-FR" sz="2800" err="1"/>
              <a:t>backward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Other</a:t>
            </a:r>
            <a:r>
              <a:rPr lang="fr-FR"/>
              <a:t> insights </a:t>
            </a:r>
            <a:r>
              <a:rPr lang="fr-FR" err="1"/>
              <a:t>which</a:t>
            </a:r>
            <a:r>
              <a:rPr lang="fr-FR"/>
              <a:t> have an influence on the </a:t>
            </a:r>
            <a:r>
              <a:rPr lang="fr-FR" err="1"/>
              <a:t>client’s</a:t>
            </a:r>
            <a:r>
              <a:rPr lang="fr-FR"/>
              <a:t> brief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Quelles autres informations utiles avons-nous pu récupérer qui entrent en ligne de compte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/>
              <a:t>Are </a:t>
            </a:r>
            <a:r>
              <a:rPr lang="fr-FR" err="1"/>
              <a:t>we</a:t>
            </a:r>
            <a:r>
              <a:rPr lang="fr-FR"/>
              <a:t> </a:t>
            </a:r>
            <a:r>
              <a:rPr lang="fr-FR" err="1"/>
              <a:t>challenging</a:t>
            </a:r>
            <a:r>
              <a:rPr lang="fr-FR"/>
              <a:t> client </a:t>
            </a:r>
            <a:r>
              <a:rPr lang="fr-FR" err="1"/>
              <a:t>request</a:t>
            </a:r>
            <a:r>
              <a:rPr lang="fr-FR"/>
              <a:t>(S), </a:t>
            </a:r>
            <a:r>
              <a:rPr lang="fr-FR" err="1"/>
              <a:t>what</a:t>
            </a:r>
            <a:r>
              <a:rPr lang="fr-FR"/>
              <a:t>, </a:t>
            </a:r>
            <a:r>
              <a:rPr lang="fr-FR" err="1"/>
              <a:t>why</a:t>
            </a:r>
            <a:r>
              <a:rPr lang="fr-FR"/>
              <a:t> and how?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Remontons en cause la.es </a:t>
            </a:r>
            <a:r>
              <a:rPr lang="fr-FR" err="1">
                <a:solidFill>
                  <a:schemeClr val="accent2">
                    <a:lumMod val="75000"/>
                  </a:schemeClr>
                </a:solidFill>
              </a:rPr>
              <a:t>demande.s</a:t>
            </a: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 du client, pourquoi et comment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Give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insights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which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support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our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vision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A8C28669-C6D5-DA34-6D2C-B5E204605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29D8C077-5F80-CE0B-55C0-755322866A59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DBFF15-6A55-F4F3-91ED-06A062FB4CA1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353B13-1188-1A51-B3F3-6BB983B2A76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84F583D-665A-25DF-4545-38342A87952D}"/>
              </a:ext>
            </a:extLst>
          </p:cNvPr>
          <p:cNvGrpSpPr/>
          <p:nvPr/>
        </p:nvGrpSpPr>
        <p:grpSpPr>
          <a:xfrm>
            <a:off x="7899393" y="3428999"/>
            <a:ext cx="3552825" cy="1212810"/>
            <a:chOff x="5739511" y="1663757"/>
            <a:chExt cx="3552825" cy="1212810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F83A72F-92AE-7001-2796-9ABEAC08DBC3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212809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Dare to challenge </a:t>
              </a:r>
              <a:r>
                <a:rPr lang="fr-FR" sz="1200" err="1">
                  <a:solidFill>
                    <a:srgbClr val="336699"/>
                  </a:solidFill>
                </a:rPr>
                <a:t>customer’s</a:t>
              </a:r>
              <a:r>
                <a:rPr lang="fr-FR" sz="1200">
                  <a:solidFill>
                    <a:srgbClr val="336699"/>
                  </a:solidFill>
                </a:rPr>
                <a:t> brief and Sales inputs. Don’t </a:t>
              </a:r>
              <a:r>
                <a:rPr lang="fr-FR" sz="1200" err="1">
                  <a:solidFill>
                    <a:srgbClr val="336699"/>
                  </a:solidFill>
                </a:rPr>
                <a:t>answer</a:t>
              </a:r>
              <a:r>
                <a:rPr lang="fr-FR" sz="1200">
                  <a:solidFill>
                    <a:srgbClr val="336699"/>
                  </a:solidFill>
                </a:rPr>
                <a:t> blindly.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N’hésitez pas à challenger le brief du client et les entrants de la force commerciale. Ne faites pas un travail scolaire.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601A92-8020-5726-18F4-CC7153DDE990}"/>
                </a:ext>
              </a:extLst>
            </p:cNvPr>
            <p:cNvSpPr/>
            <p:nvPr/>
          </p:nvSpPr>
          <p:spPr>
            <a:xfrm>
              <a:off x="5739511" y="1663757"/>
              <a:ext cx="467360" cy="1212809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699856E-91D7-C9E6-73BB-3039BA81E2B9}"/>
              </a:ext>
            </a:extLst>
          </p:cNvPr>
          <p:cNvGrpSpPr/>
          <p:nvPr/>
        </p:nvGrpSpPr>
        <p:grpSpPr>
          <a:xfrm>
            <a:off x="7899393" y="1780717"/>
            <a:ext cx="3552825" cy="1397476"/>
            <a:chOff x="5739511" y="1663757"/>
            <a:chExt cx="3552825" cy="1397476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BD8FB88-1DE1-D52A-83A4-ED832DE0421A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39747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err="1">
                  <a:solidFill>
                    <a:srgbClr val="336699"/>
                  </a:solidFill>
                </a:rPr>
                <a:t>Market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analysis</a:t>
              </a:r>
              <a:r>
                <a:rPr lang="fr-FR" sz="1200">
                  <a:solidFill>
                    <a:srgbClr val="336699"/>
                  </a:solidFill>
                </a:rPr>
                <a:t>, </a:t>
              </a:r>
              <a:r>
                <a:rPr lang="fr-FR" sz="1200" err="1">
                  <a:solidFill>
                    <a:srgbClr val="336699"/>
                  </a:solidFill>
                </a:rPr>
                <a:t>press</a:t>
              </a:r>
              <a:r>
                <a:rPr lang="fr-FR" sz="1200">
                  <a:solidFill>
                    <a:srgbClr val="336699"/>
                  </a:solidFill>
                </a:rPr>
                <a:t> releases, </a:t>
              </a:r>
              <a:r>
                <a:rPr lang="fr-FR" sz="1200" err="1">
                  <a:solidFill>
                    <a:srgbClr val="336699"/>
                  </a:solidFill>
                </a:rPr>
                <a:t>competitors</a:t>
              </a:r>
              <a:r>
                <a:rPr lang="fr-FR" sz="1200">
                  <a:solidFill>
                    <a:srgbClr val="336699"/>
                  </a:solidFill>
                </a:rPr>
                <a:t>, </a:t>
              </a:r>
              <a:r>
                <a:rPr lang="fr-FR" sz="1200" err="1">
                  <a:solidFill>
                    <a:srgbClr val="336699"/>
                  </a:solidFill>
                </a:rPr>
                <a:t>studies</a:t>
              </a:r>
              <a:r>
                <a:rPr lang="fr-FR" sz="1200">
                  <a:solidFill>
                    <a:srgbClr val="336699"/>
                  </a:solidFill>
                </a:rPr>
                <a:t>, … </a:t>
              </a:r>
              <a:r>
                <a:rPr lang="fr-FR" sz="1200" err="1">
                  <a:solidFill>
                    <a:srgbClr val="336699"/>
                  </a:solidFill>
                </a:rPr>
                <a:t>everything</a:t>
              </a:r>
              <a:r>
                <a:rPr lang="fr-FR" sz="1200">
                  <a:solidFill>
                    <a:srgbClr val="336699"/>
                  </a:solidFill>
                </a:rPr>
                <a:t> can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useful</a:t>
              </a:r>
              <a:r>
                <a:rPr lang="fr-FR" sz="1200">
                  <a:solidFill>
                    <a:srgbClr val="336699"/>
                  </a:solidFill>
                </a:rPr>
                <a:t> to support </a:t>
              </a:r>
              <a:r>
                <a:rPr lang="fr-FR" sz="1200" err="1">
                  <a:solidFill>
                    <a:srgbClr val="336699"/>
                  </a:solidFill>
                </a:rPr>
                <a:t>our</a:t>
              </a:r>
              <a:r>
                <a:rPr lang="fr-FR" sz="1200">
                  <a:solidFill>
                    <a:srgbClr val="336699"/>
                  </a:solidFill>
                </a:rPr>
                <a:t> vision.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Études de marché, communiqués de presse, concurrence, enquêtes, … tout peut être utile pour argumenter nos convictions.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4645BD-607F-8DC0-EC1B-2231A75FC069}"/>
                </a:ext>
              </a:extLst>
            </p:cNvPr>
            <p:cNvSpPr/>
            <p:nvPr/>
          </p:nvSpPr>
          <p:spPr>
            <a:xfrm>
              <a:off x="5739511" y="1663757"/>
              <a:ext cx="467360" cy="139747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831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Value proposition</a:t>
            </a:r>
            <a:endParaRPr lang="en-US" sz="2800"/>
          </a:p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What </a:t>
            </a:r>
            <a:r>
              <a:rPr lang="fr-CH" err="1"/>
              <a:t>is</a:t>
            </a:r>
            <a:r>
              <a:rPr lang="fr-CH"/>
              <a:t> Our value proposition in a few sentences?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Si vous deviez synthétiser notre proposition de valeur, celle-ci serait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Give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strategic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angles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which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support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our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vision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622E4942-44AC-9A41-6E67-A2959EEB9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F803CC82-0F6C-556F-C006-3BB5C4A15846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09EF1B-439A-B01E-2BEE-92813BC48115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34718E-CB9A-58FA-E9B0-D3FCE5335111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282620F-453D-52E0-3CC5-83A057867007}"/>
              </a:ext>
            </a:extLst>
          </p:cNvPr>
          <p:cNvGrpSpPr/>
          <p:nvPr/>
        </p:nvGrpSpPr>
        <p:grpSpPr>
          <a:xfrm>
            <a:off x="7244202" y="1948006"/>
            <a:ext cx="3552825" cy="2623994"/>
            <a:chOff x="5739511" y="1663757"/>
            <a:chExt cx="3552825" cy="2459305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062CD90-F924-1FAF-14D5-41EE6A97A2B8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2459304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Value Proposition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result</a:t>
              </a:r>
              <a:r>
                <a:rPr lang="fr-FR" sz="1200">
                  <a:solidFill>
                    <a:srgbClr val="336699"/>
                  </a:solidFill>
                </a:rPr>
                <a:t> of  </a:t>
              </a:r>
              <a:r>
                <a:rPr lang="fr-FR" sz="1200" err="1">
                  <a:solidFill>
                    <a:srgbClr val="336699"/>
                  </a:solidFill>
                </a:rPr>
                <a:t>thorough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thinking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within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bid</a:t>
              </a:r>
              <a:r>
                <a:rPr lang="fr-FR" sz="1200">
                  <a:solidFill>
                    <a:srgbClr val="336699"/>
                  </a:solidFill>
                </a:rPr>
                <a:t> team. This </a:t>
              </a:r>
              <a:r>
                <a:rPr lang="fr-FR" sz="1200" err="1">
                  <a:solidFill>
                    <a:srgbClr val="336699"/>
                  </a:solidFill>
                </a:rPr>
                <a:t>anwers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two</a:t>
              </a:r>
              <a:r>
                <a:rPr lang="fr-FR" sz="1200">
                  <a:solidFill>
                    <a:srgbClr val="336699"/>
                  </a:solidFill>
                </a:rPr>
                <a:t> questions: </a:t>
              </a:r>
              <a:r>
                <a:rPr lang="fr-FR" sz="1200" err="1">
                  <a:solidFill>
                    <a:srgbClr val="336699"/>
                  </a:solidFill>
                </a:rPr>
                <a:t>What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will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create</a:t>
              </a:r>
              <a:r>
                <a:rPr lang="fr-FR" sz="1200">
                  <a:solidFill>
                    <a:srgbClr val="336699"/>
                  </a:solidFill>
                </a:rPr>
                <a:t> value in </a:t>
              </a:r>
              <a:r>
                <a:rPr lang="fr-FR" sz="1200" err="1">
                  <a:solidFill>
                    <a:srgbClr val="336699"/>
                  </a:solidFill>
                </a:rPr>
                <a:t>our</a:t>
              </a:r>
              <a:r>
                <a:rPr lang="fr-FR" sz="1200">
                  <a:solidFill>
                    <a:srgbClr val="336699"/>
                  </a:solidFill>
                </a:rPr>
                <a:t> proposition ? </a:t>
              </a:r>
              <a:r>
                <a:rPr lang="fr-FR" sz="1200" err="1">
                  <a:solidFill>
                    <a:srgbClr val="336699"/>
                  </a:solidFill>
                </a:rPr>
                <a:t>What</a:t>
              </a:r>
              <a:r>
                <a:rPr lang="fr-FR" sz="1200">
                  <a:solidFill>
                    <a:srgbClr val="336699"/>
                  </a:solidFill>
                </a:rPr>
                <a:t> do </a:t>
              </a:r>
              <a:r>
                <a:rPr lang="fr-FR" sz="1200" err="1">
                  <a:solidFill>
                    <a:srgbClr val="336699"/>
                  </a:solidFill>
                </a:rPr>
                <a:t>we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strongly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believe</a:t>
              </a:r>
              <a:r>
                <a:rPr lang="fr-FR" sz="1200">
                  <a:solidFill>
                    <a:srgbClr val="336699"/>
                  </a:solidFill>
                </a:rPr>
                <a:t> in for the </a:t>
              </a:r>
              <a:r>
                <a:rPr lang="fr-FR" sz="1200" err="1">
                  <a:solidFill>
                    <a:srgbClr val="336699"/>
                  </a:solidFill>
                </a:rPr>
                <a:t>customer</a:t>
              </a:r>
              <a:r>
                <a:rPr lang="fr-FR" sz="1200">
                  <a:solidFill>
                    <a:srgbClr val="336699"/>
                  </a:solidFill>
                </a:rPr>
                <a:t>?</a:t>
              </a:r>
              <a:br>
                <a:rPr lang="fr-FR" sz="1200">
                  <a:solidFill>
                    <a:srgbClr val="336699"/>
                  </a:solidFill>
                </a:rPr>
              </a:br>
              <a:endParaRPr lang="fr-FR" sz="1200">
                <a:solidFill>
                  <a:srgbClr val="336699"/>
                </a:solidFill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La proposition de valeur résulte d’une réflexion approfondie de l’équipe de réponse. Elle répond à 2 questions clefs : Qu’est ce qui va générer de la valeur dans notre proposition ? En quoi croyons-nous fermement dans l’intérêt du client ?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AFCE0B-75CE-5AAF-732D-7C13EF5A6F7E}"/>
                </a:ext>
              </a:extLst>
            </p:cNvPr>
            <p:cNvSpPr/>
            <p:nvPr/>
          </p:nvSpPr>
          <p:spPr>
            <a:xfrm>
              <a:off x="5739511" y="1663757"/>
              <a:ext cx="467360" cy="2459304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842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sz="1800" cap="all">
                <a:solidFill>
                  <a:schemeClr val="bg1"/>
                </a:solidFill>
                <a:highlight>
                  <a:srgbClr val="006452"/>
                </a:highlight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Delivery Model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E3011743-BD1F-92AE-2E15-E4085A8A3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DEF95AEC-2B96-F4FF-FFAD-82DC08361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208725"/>
              </p:ext>
            </p:extLst>
          </p:nvPr>
        </p:nvGraphicFramePr>
        <p:xfrm>
          <a:off x="974035" y="1442914"/>
          <a:ext cx="10508730" cy="507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WHAT’S OUR ENGAGEMENT PROPOSAL: FIXED PRICE, MANAGED </a:t>
                      </a:r>
                      <a:b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</a:b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BUDGET IN TIME &amp; MATERIAL OR A MIX? </a:t>
                      </a:r>
                      <a:br>
                        <a:rPr lang="en-CH" sz="1800" b="0" i="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Quel modèle d’engagement nous apparaît le plus pertinent (peut être différent de la demande)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The Methodology(ies) we think the most relevant(s) is…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Quelle méthodologie nous semble la plus adaptée pour ce projet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the client familiar with this methodology and the associated roles &amp; responsibilities?</a:t>
                      </a:r>
                      <a:br>
                        <a:rPr lang="en-CH" sz="11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Le client est-il familier de cette méthodologie et des rôles et responsabilités associées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Are there SLA’s requested? which ones do we consider appropriate? Any other or alternative ones to suggest?</a:t>
                      </a:r>
                      <a:br>
                        <a:rPr lang="en-CH" sz="11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Quels SLA’s sont demandés par le client, quels sont ceux qui nous semblent pertinents et quels compléments/alternatives proposer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959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there a penalty mechanism or a Bonus/Malus mechanism mentioned in the client brief 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Des mécanismes de pénalités ou de Bonus/Malus sont-ils prévus ou envisageables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7A0E2277-642D-2901-CC2A-CA0769978A19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FBAFA7-5072-27B6-588C-8778942A7BFF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30E3E8-1633-25C8-126D-08C71A3D6A9D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304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sz="1800" cap="all">
                <a:solidFill>
                  <a:schemeClr val="bg1"/>
                </a:solidFill>
                <a:highlight>
                  <a:srgbClr val="006452"/>
                </a:highlight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Delivery Model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1942F87A-1ADA-9E33-B15B-22357AF90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5DA727A3-1BE3-DE01-0C31-565A14554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99330"/>
              </p:ext>
            </p:extLst>
          </p:nvPr>
        </p:nvGraphicFramePr>
        <p:xfrm>
          <a:off x="974035" y="1442914"/>
          <a:ext cx="10508730" cy="49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Have DSSI (Cyber Security) and Legal departments been involved in the solutioning phase?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Est-ce que la DSSi et le Legal ont été impliqués ? 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Is there a Quality Assurance Plan (or equivalent) to be put in place?</a:t>
                      </a:r>
                      <a:br>
                        <a:rPr lang="en-CH" sz="12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1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Un PAQ (Plan d’Assurance Qualité) est-il prévu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there a SECURITY Assurance Plan (or equivalent) to be put in place?</a:t>
                      </a:r>
                      <a:br>
                        <a:rPr lang="en-CH" sz="12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1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Un PAS (Plan d’Assurance Sécurité) est-il prévu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there a </a:t>
                      </a:r>
                      <a:r>
                        <a:rPr lang="fr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hand over</a:t>
                      </a: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Plan (or equivalent) to be put in place?</a:t>
                      </a:r>
                      <a:br>
                        <a:rPr lang="en-CH" sz="11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1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Un Plan de Réversibilité est-il prévu ?</a:t>
                      </a:r>
                      <a:endParaRPr lang="en-CH" sz="1050" i="1" noProof="0">
                        <a:solidFill>
                          <a:srgbClr val="722F85"/>
                        </a:solidFill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959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Do we have specific regulatory constraints applied?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Y-a-t-il des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contraintes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légales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ou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réglementaires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spécifiques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sur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ce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1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projet</a:t>
                      </a: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?</a:t>
                      </a:r>
                      <a:endParaRPr lang="en-CH" sz="1100" b="1" kern="1200" cap="all" noProof="0">
                        <a:solidFill>
                          <a:srgbClr val="722F85"/>
                        </a:solidFill>
                        <a:latin typeface="Arial Nova Cond" panose="020B0506020202020204" pitchFamily="34" charset="0"/>
                        <a:ea typeface="Inter-Bold" panose="02000803000000020004" pitchFamily="50" charset="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100" i="1" kern="1200" noProof="0">
                        <a:solidFill>
                          <a:srgbClr val="722F85"/>
                        </a:solidFill>
                        <a:latin typeface="Arial Nova Cond" panose="020B0506020202020204" pitchFamily="34" charset="0"/>
                        <a:ea typeface="Inter-Bold" panose="02000803000000020004" pitchFamily="50" charset="0"/>
                        <a:cs typeface="+mn-cs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3B6C3EE8-6068-8D2A-E96A-B4B338CC5851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93461C-7066-1817-E5D8-6BB9AD7BD34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0CF1DD-519E-0663-3472-13BB4BDD5AAB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1046403-89E4-5988-2AAA-F427CD53416C}"/>
              </a:ext>
            </a:extLst>
          </p:cNvPr>
          <p:cNvGrpSpPr/>
          <p:nvPr/>
        </p:nvGrpSpPr>
        <p:grpSpPr>
          <a:xfrm>
            <a:off x="8351772" y="1746523"/>
            <a:ext cx="3552825" cy="1939357"/>
            <a:chOff x="5739511" y="1663757"/>
            <a:chExt cx="3552825" cy="1751419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1C28B77-5268-CC1C-DFCE-D994FCA30442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751418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200">
                  <a:solidFill>
                    <a:srgbClr val="336699"/>
                  </a:solidFill>
                </a:rPr>
                <a:t>If the customer's brief doesn't specify these points, it doesn't mean they shouldn't be addressed: on the contrary, it's reassuring for the customer.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si le brief du client ne précise pas ces points, cela ne veut pas dire qu'il ne faut pas les adresser. Au contraire, c'est rassurant pour le client.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2EDF88-356B-8390-AD8A-75FC5143D5E5}"/>
                </a:ext>
              </a:extLst>
            </p:cNvPr>
            <p:cNvSpPr/>
            <p:nvPr/>
          </p:nvSpPr>
          <p:spPr>
            <a:xfrm>
              <a:off x="5739511" y="1663757"/>
              <a:ext cx="467360" cy="1751418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3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H" sz="1800" cap="all">
                <a:solidFill>
                  <a:schemeClr val="bg1"/>
                </a:solidFill>
                <a:highlight>
                  <a:srgbClr val="006452"/>
                </a:highlight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en-CH" cap="none">
                <a:solidFill>
                  <a:schemeClr val="bg1"/>
                </a:solidFill>
                <a:highlight>
                  <a:srgbClr val="006452"/>
                </a:highlight>
              </a:rPr>
              <a:t>Stakeholders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14" name="Picture 28" descr="Solution - Icônes divers gratuites">
            <a:extLst>
              <a:ext uri="{FF2B5EF4-FFF2-40B4-BE49-F238E27FC236}">
                <a16:creationId xmlns:a16="http://schemas.microsoft.com/office/drawing/2014/main" id="{AB0D8FD1-70F3-B73E-63CA-657CCFB6A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au 3">
            <a:extLst>
              <a:ext uri="{FF2B5EF4-FFF2-40B4-BE49-F238E27FC236}">
                <a16:creationId xmlns:a16="http://schemas.microsoft.com/office/drawing/2014/main" id="{0C637E1C-96D9-79DF-7302-12F5F7957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91996"/>
              </p:ext>
            </p:extLst>
          </p:nvPr>
        </p:nvGraphicFramePr>
        <p:xfrm>
          <a:off x="974035" y="1442914"/>
          <a:ext cx="10508730" cy="502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Clr>
                          <a:schemeClr val="accent4"/>
                        </a:buClr>
                        <a:buSzPct val="140000"/>
                        <a:buNone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nearshore and/or Offshore Involved on this project? Where?</a:t>
                      </a:r>
                      <a:br>
                        <a:rPr lang="en-CH" sz="16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Le dispositif implique-t-il du nearshore ou de l’offshore ? Où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Are Sub-contractors/co-contractors Involved on this project? Do we already have a partnership in place?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Le dispositif prévoit-il de la sous-traitance ou de la co-traitance ? A-t-on déjà des partenariats en place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 an </a:t>
                      </a:r>
                      <a:r>
                        <a:rPr lang="fr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software </a:t>
                      </a:r>
                      <a:r>
                        <a:rPr lang="fr-CH" sz="1300" b="1" kern="1200" cap="all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vendor</a:t>
                      </a: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involved on this project? Do we already have a partnership in place?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Un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éditeur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est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-il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partie-prenante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du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projet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? A-t-on déjà un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partenariat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en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place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Any other third-party to consider?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Y-a-t-il une autre tierce-partie à considérer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959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Do we propose a governance model considering all the stakeholders?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1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Notre proposition de gouvernance a-t-elle bien été définie en conséquence des parties prenantes en présence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16" name="Groupe 15">
            <a:extLst>
              <a:ext uri="{FF2B5EF4-FFF2-40B4-BE49-F238E27FC236}">
                <a16:creationId xmlns:a16="http://schemas.microsoft.com/office/drawing/2014/main" id="{ACE40753-0495-D876-5EEC-1921AFBD82BC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DFD72E-AE43-1A26-7E25-BCCCE04E5EA9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2ACF51-763F-10F2-0A5D-21AE0873532E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3F0FCA2-6030-F8D0-BA7D-E6BB7AE4B730}"/>
              </a:ext>
            </a:extLst>
          </p:cNvPr>
          <p:cNvGrpSpPr/>
          <p:nvPr/>
        </p:nvGrpSpPr>
        <p:grpSpPr>
          <a:xfrm>
            <a:off x="8073761" y="3954041"/>
            <a:ext cx="3552825" cy="1920696"/>
            <a:chOff x="5739511" y="1663757"/>
            <a:chExt cx="3552825" cy="1920696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E9FA446-8332-7487-0241-37884506C8DD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200">
                  <a:solidFill>
                    <a:srgbClr val="336699"/>
                  </a:solidFill>
                </a:rPr>
                <a:t>Pay attention to the relationship between SQLI and the other parties: e.g. answering to a bid with a not-yet partner third-party may be a risk.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100" b="0" i="1">
                  <a:solidFill>
                    <a:srgbClr val="336699"/>
                  </a:solidFill>
                </a:rPr>
                <a:t>Attention aux relations entre SLQI et les </a:t>
              </a:r>
              <a:r>
                <a:rPr lang="en-CH" sz="1100" b="0" i="1" err="1">
                  <a:solidFill>
                    <a:srgbClr val="336699"/>
                  </a:solidFill>
                </a:rPr>
                <a:t>éventuelles</a:t>
              </a:r>
              <a:r>
                <a:rPr lang="en-CH" sz="1100" b="0" i="1">
                  <a:solidFill>
                    <a:srgbClr val="336699"/>
                  </a:solidFill>
                </a:rPr>
                <a:t> tierces-parties. P. ex. </a:t>
              </a:r>
              <a:r>
                <a:rPr lang="en-CH" sz="1100" b="0" i="1" err="1">
                  <a:solidFill>
                    <a:srgbClr val="336699"/>
                  </a:solidFill>
                </a:rPr>
                <a:t>Concourir</a:t>
              </a:r>
              <a:r>
                <a:rPr lang="en-CH" sz="1100" b="0" i="1">
                  <a:solidFill>
                    <a:srgbClr val="336699"/>
                  </a:solidFill>
                </a:rPr>
                <a:t> avec </a:t>
              </a:r>
              <a:r>
                <a:rPr lang="en-CH" sz="1100" b="0" i="1" err="1">
                  <a:solidFill>
                    <a:srgbClr val="336699"/>
                  </a:solidFill>
                </a:rPr>
                <a:t>une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partie-prenante</a:t>
              </a:r>
              <a:r>
                <a:rPr lang="en-CH" sz="1100" b="0" i="1">
                  <a:solidFill>
                    <a:srgbClr val="336699"/>
                  </a:solidFill>
                </a:rPr>
                <a:t> avec </a:t>
              </a:r>
              <a:r>
                <a:rPr lang="en-CH" sz="1100" b="0" i="1" err="1">
                  <a:solidFill>
                    <a:srgbClr val="336699"/>
                  </a:solidFill>
                </a:rPr>
                <a:t>laquelle</a:t>
              </a:r>
              <a:r>
                <a:rPr lang="en-CH" sz="1100" b="0" i="1">
                  <a:solidFill>
                    <a:srgbClr val="336699"/>
                  </a:solidFill>
                </a:rPr>
                <a:t> il </a:t>
              </a:r>
              <a:r>
                <a:rPr lang="en-CH" sz="1100" b="0" i="1" err="1">
                  <a:solidFill>
                    <a:srgbClr val="336699"/>
                  </a:solidFill>
                </a:rPr>
                <a:t>n’y</a:t>
              </a:r>
              <a:r>
                <a:rPr lang="en-CH" sz="1100" b="0" i="1">
                  <a:solidFill>
                    <a:srgbClr val="336699"/>
                  </a:solidFill>
                </a:rPr>
                <a:t> a pas </a:t>
              </a:r>
              <a:r>
                <a:rPr lang="en-CH" sz="1100" b="0" i="1" err="1">
                  <a:solidFill>
                    <a:srgbClr val="336699"/>
                  </a:solidFill>
                </a:rPr>
                <a:t>d’accord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partenarial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présente</a:t>
              </a:r>
              <a:r>
                <a:rPr lang="en-CH" sz="1100" b="0" i="1">
                  <a:solidFill>
                    <a:srgbClr val="336699"/>
                  </a:solidFill>
                </a:rPr>
                <a:t> un </a:t>
              </a:r>
              <a:r>
                <a:rPr lang="en-CH" sz="1100" b="0" i="1" err="1">
                  <a:solidFill>
                    <a:srgbClr val="336699"/>
                  </a:solidFill>
                </a:rPr>
                <a:t>risque</a:t>
              </a:r>
              <a:r>
                <a:rPr lang="en-CH" sz="1100" b="0" i="1">
                  <a:solidFill>
                    <a:srgbClr val="336699"/>
                  </a:solidFill>
                </a:rPr>
                <a:t>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45CC92-F4A0-6750-A952-E474818FDE24}"/>
                </a:ext>
              </a:extLst>
            </p:cNvPr>
            <p:cNvSpPr/>
            <p:nvPr/>
          </p:nvSpPr>
          <p:spPr>
            <a:xfrm>
              <a:off x="5739511" y="1663757"/>
              <a:ext cx="467360" cy="192069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3200" i="1" err="1">
                  <a:latin typeface="Bodoni MT Black" panose="02070A03080606020203" pitchFamily="18" charset="0"/>
                </a:rPr>
                <a:t>i</a:t>
              </a:r>
              <a:endParaRPr lang="en-CH" sz="3200" i="1">
                <a:latin typeface="Bodoni MT Black" panose="02070A030806060202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630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sz="1800" cap="all">
                <a:solidFill>
                  <a:schemeClr val="bg1"/>
                </a:solidFill>
                <a:highlight>
                  <a:srgbClr val="006452"/>
                </a:highlight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Experience &amp; Design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3645AE0F-EC76-FD67-FFE4-AA4D45BA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7A7DA3F1-216C-D52A-F93C-A9B9AD0A4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899859"/>
              </p:ext>
            </p:extLst>
          </p:nvPr>
        </p:nvGraphicFramePr>
        <p:xfrm>
          <a:off x="974035" y="1442914"/>
          <a:ext cx="10508730" cy="49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The UX/UI </a:t>
                      </a:r>
                      <a:r>
                        <a:rPr lang="fr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challenges</a:t>
                      </a: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we will address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Q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uels enjeux sont adressés au travers des parti-pris UX/UI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THE main creative biases to address these </a:t>
                      </a:r>
                      <a:r>
                        <a:rPr lang="fr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challenges</a:t>
                      </a: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are…</a:t>
                      </a:r>
                      <a:r>
                        <a:rPr lang="en-CH" sz="14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​</a:t>
                      </a:r>
                      <a:br>
                        <a:rPr lang="en-CH" sz="1800" b="0" i="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Quels sont les partis-pris créatifs principaux pour adresser ces enjeux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How will</a:t>
                      </a:r>
                      <a:r>
                        <a:rPr lang="fr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WE</a:t>
                      </a: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work together with the client on UX/UI?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Comment allons-nous travailler avec le client sur les aspects UX/UI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The Creative </a:t>
                      </a:r>
                      <a:r>
                        <a:rPr lang="fr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outputs</a:t>
                      </a: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the client will get from us Are…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Quelles productions créatives allons-nous fournir au client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959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Some examples to illustrate (references or ad hoc demonstration material)</a:t>
                      </a:r>
                      <a:r>
                        <a:rPr lang="fr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CH" sz="1300" b="1" cap="all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our</a:t>
                      </a:r>
                      <a:r>
                        <a:rPr lang="fr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know how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Quelles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preuves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fournissons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-nous au client pour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démontrer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en-CH" sz="1200" i="1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notre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savoir-faire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84FF3848-C549-6DF9-E365-B776A054629A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185F5F-75C8-7E81-742E-624D3BE1A7C5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1D2F32-1D59-F90B-19B1-B31EFCE747F2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79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Technologies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015BBB98-555C-DF95-2922-B4611961C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56575065-B202-6462-454D-EA1D16377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74923"/>
              </p:ext>
            </p:extLst>
          </p:nvPr>
        </p:nvGraphicFramePr>
        <p:xfrm>
          <a:off x="974035" y="1442914"/>
          <a:ext cx="10508730" cy="495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Clr>
                          <a:schemeClr val="accent4"/>
                        </a:buClr>
                        <a:buSzPct val="140000"/>
                        <a:buNone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The technical solution chosen is…</a:t>
                      </a:r>
                      <a:br>
                        <a:rPr lang="en-CH" sz="16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La solution technique que nous </a:t>
                      </a:r>
                      <a:r>
                        <a:rPr lang="en-CH" sz="12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plébiscitons</a:t>
                      </a: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en-CH" sz="12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est</a:t>
                      </a: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la </a:t>
                      </a:r>
                      <a:r>
                        <a:rPr lang="en-CH" sz="1200" i="1" kern="1200" noProof="0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suivante</a:t>
                      </a: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…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Why did we chose this technical Solution?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Pourquoi avons-nous choisi cette solution technique ?</a:t>
                      </a:r>
                      <a:endParaRPr lang="en-CH" sz="1200" i="1" noProof="0">
                        <a:solidFill>
                          <a:srgbClr val="722F85"/>
                        </a:solidFill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If </a:t>
                      </a:r>
                      <a:r>
                        <a:rPr lang="fr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the </a:t>
                      </a: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solution is </a:t>
                      </a:r>
                      <a:r>
                        <a:rPr lang="fr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A </a:t>
                      </a:r>
                      <a:r>
                        <a:rPr lang="en-CH" sz="1300" b="1" kern="1200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client request, can we challenge it and how?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i="1" kern="1200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Si la solution est demandée par le client, peut-on la challenger et comment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What are the main benefits of such a Tech choice?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Quels sont les principaux bénéfices de ce choix technologique pour le client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959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3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Let’s get prepared: What are the possible weaknesses of this technical solution?</a:t>
                      </a:r>
                      <a:br>
                        <a:rPr lang="en-CH" sz="1400" b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</a:br>
                      <a:r>
                        <a:rPr lang="en-CH" sz="1200" i="1" cap="all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</a:t>
                      </a:r>
                      <a:r>
                        <a:rPr lang="en-CH" sz="1200" i="1" noProof="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réparons-nous à argumenter notre parti-pris technique : quelles sont les éventuelles faiblesses de celui-ci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400" noProof="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 complete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DBD3685B-8915-FBC8-3D41-7D2CDB0F806E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E3C3CD-0CD3-96F2-34FF-B077DA9180F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F43C8F-B57A-5129-0690-68C85A28E40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82F2098-3CA7-0290-BF9C-0856A2B54301}"/>
              </a:ext>
            </a:extLst>
          </p:cNvPr>
          <p:cNvGrpSpPr/>
          <p:nvPr/>
        </p:nvGrpSpPr>
        <p:grpSpPr>
          <a:xfrm>
            <a:off x="6690038" y="4999119"/>
            <a:ext cx="3552825" cy="1751419"/>
            <a:chOff x="5739511" y="1663757"/>
            <a:chExt cx="3552825" cy="1751419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379A5FF-EA84-7C2D-715A-12C14F444C09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751418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Dare to challenge </a:t>
              </a:r>
              <a:r>
                <a:rPr lang="fr-FR" sz="1200" err="1">
                  <a:solidFill>
                    <a:srgbClr val="336699"/>
                  </a:solidFill>
                </a:rPr>
                <a:t>customer’s</a:t>
              </a:r>
              <a:r>
                <a:rPr lang="fr-FR" sz="1200">
                  <a:solidFill>
                    <a:srgbClr val="336699"/>
                  </a:solidFill>
                </a:rPr>
                <a:t> brief on </a:t>
              </a:r>
              <a:r>
                <a:rPr lang="fr-FR" sz="1200" err="1">
                  <a:solidFill>
                    <a:srgbClr val="336699"/>
                  </a:solidFill>
                </a:rPr>
                <a:t>required</a:t>
              </a:r>
              <a:r>
                <a:rPr lang="fr-FR" sz="1200">
                  <a:solidFill>
                    <a:srgbClr val="336699"/>
                  </a:solidFill>
                </a:rPr>
                <a:t> technologies: solution, </a:t>
              </a:r>
              <a:r>
                <a:rPr lang="fr-FR" sz="1200" err="1">
                  <a:solidFill>
                    <a:srgbClr val="336699"/>
                  </a:solidFill>
                </a:rPr>
                <a:t>add-ons</a:t>
              </a:r>
              <a:r>
                <a:rPr lang="fr-FR" sz="1200">
                  <a:solidFill>
                    <a:srgbClr val="336699"/>
                  </a:solidFill>
                </a:rPr>
                <a:t>, etc. You must </a:t>
              </a:r>
              <a:r>
                <a:rPr lang="fr-FR" sz="1200" err="1">
                  <a:solidFill>
                    <a:srgbClr val="336699"/>
                  </a:solidFill>
                </a:rPr>
                <a:t>believe</a:t>
              </a:r>
              <a:r>
                <a:rPr lang="fr-FR" sz="1200">
                  <a:solidFill>
                    <a:srgbClr val="336699"/>
                  </a:solidFill>
                </a:rPr>
                <a:t> in the solution </a:t>
              </a:r>
              <a:r>
                <a:rPr lang="fr-FR" sz="1200" err="1">
                  <a:solidFill>
                    <a:srgbClr val="336699"/>
                  </a:solidFill>
                </a:rPr>
                <a:t>you</a:t>
              </a:r>
              <a:r>
                <a:rPr lang="fr-FR" sz="1200">
                  <a:solidFill>
                    <a:srgbClr val="336699"/>
                  </a:solidFill>
                </a:rPr>
                <a:t> propose.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N’hésitez pas à challenger le brief du client s’il a formulé  une demande précise en termes de technologies. Vous devez croire en votre proposition technique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88ED16-4A11-9839-67E5-1CF43317C71F}"/>
                </a:ext>
              </a:extLst>
            </p:cNvPr>
            <p:cNvSpPr/>
            <p:nvPr/>
          </p:nvSpPr>
          <p:spPr>
            <a:xfrm>
              <a:off x="5739511" y="1663757"/>
              <a:ext cx="467360" cy="1751418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5657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Our vision</a:t>
            </a:r>
            <a:endParaRPr lang="en-US" sz="280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 </a:t>
            </a:r>
            <a:r>
              <a:rPr lang="fr-FR" cap="none" err="1">
                <a:solidFill>
                  <a:schemeClr val="bg1"/>
                </a:solidFill>
                <a:highlight>
                  <a:srgbClr val="006452"/>
                </a:highlight>
              </a:rPr>
              <a:t>Winning</a:t>
            </a:r>
            <a:r>
              <a:rPr lang="fr-FR" cap="none">
                <a:solidFill>
                  <a:schemeClr val="bg1"/>
                </a:solidFill>
                <a:highlight>
                  <a:srgbClr val="006452"/>
                </a:highlight>
              </a:rPr>
              <a:t> </a:t>
            </a:r>
            <a:r>
              <a:rPr lang="fr-FR" cap="none" err="1">
                <a:solidFill>
                  <a:schemeClr val="bg1"/>
                </a:solidFill>
                <a:highlight>
                  <a:srgbClr val="006452"/>
                </a:highlight>
              </a:rPr>
              <a:t>add-ons</a:t>
            </a:r>
            <a:endParaRPr lang="fr-FR" cap="none">
              <a:solidFill>
                <a:schemeClr val="bg1"/>
              </a:solidFill>
              <a:highlight>
                <a:srgbClr val="006452"/>
              </a:highlight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034DC136-BB60-F7F9-BE08-AAFB7CC71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81F98D74-DFF7-6AC1-D5DD-92975C7F4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156518"/>
              </p:ext>
            </p:extLst>
          </p:nvPr>
        </p:nvGraphicFramePr>
        <p:xfrm>
          <a:off x="974035" y="1442914"/>
          <a:ext cx="10508730" cy="308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3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2543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QUESTIONS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Arial Nova Cond" panose="020B0506020202020204" pitchFamily="34" charset="0"/>
                        </a:rPr>
                        <a:t>ANSWERS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This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is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not in the client brief but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recommended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by us</a:t>
                      </a:r>
                      <a:br>
                        <a:rPr lang="fr-FR" sz="14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</a:br>
                      <a:r>
                        <a:rPr lang="fr-FR" sz="1200" i="1" kern="120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Le client ne l’a pas demandé, mais nous le lui recommandons vivement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Customer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voice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: can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we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have the support of an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existing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</a:t>
                      </a:r>
                      <a:r>
                        <a:rPr lang="fr-FR" sz="1300" b="1" kern="1200" cap="all" err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customer</a:t>
                      </a: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 and how?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1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Voix du client: peut-on avoir le support d’un client existant en comment ?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393605"/>
                  </a:ext>
                </a:extLst>
              </a:tr>
              <a:tr h="89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1" kern="1200" cap="all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ONE MORE THING: PLEASE PROPOSE AN UNEXPECTED ARGUMENT​</a:t>
                      </a:r>
                      <a:b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1200" i="1" kern="1200">
                          <a:solidFill>
                            <a:srgbClr val="722F85"/>
                          </a:solidFill>
                          <a:latin typeface="Arial Nova Cond" panose="020B0506020202020204" pitchFamily="34" charset="0"/>
                          <a:ea typeface="Inter-Bold" panose="02000803000000020004" pitchFamily="50" charset="0"/>
                          <a:cs typeface="+mn-cs"/>
                        </a:rPr>
                        <a:t>Personne ne l’attendait mais SQLI crée la surprise avec cet argument inattendu</a:t>
                      </a: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Please</a:t>
                      </a:r>
                      <a:r>
                        <a:rPr lang="fr-FR" sz="1400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 </a:t>
                      </a:r>
                      <a:r>
                        <a:rPr lang="fr-FR" sz="1400" err="1">
                          <a:latin typeface="Arial Nova Cond" panose="020B0506020202020204" pitchFamily="34" charset="0"/>
                          <a:ea typeface="Inter-Bold" panose="02000803000000020004" pitchFamily="50" charset="0"/>
                        </a:rPr>
                        <a:t>complete</a:t>
                      </a:r>
                      <a:endParaRPr lang="fr-FR" sz="1400">
                        <a:latin typeface="Arial Nova Cond" panose="020B0506020202020204" pitchFamily="34" charset="0"/>
                        <a:ea typeface="Inter-Bold" panose="02000803000000020004" pitchFamily="50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943BE47B-3DE2-20AD-E249-321839426129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CC6E05-A31D-BEAC-1376-65A1DB879CB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C369A6-CBE3-7C7C-8FEC-538DF0780799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8F0903F-DD37-1D9E-8073-520E781E81F0}"/>
              </a:ext>
            </a:extLst>
          </p:cNvPr>
          <p:cNvGrpSpPr/>
          <p:nvPr/>
        </p:nvGrpSpPr>
        <p:grpSpPr>
          <a:xfrm>
            <a:off x="4981519" y="4193924"/>
            <a:ext cx="3552825" cy="1751420"/>
            <a:chOff x="5739511" y="1663756"/>
            <a:chExt cx="3552825" cy="1751420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55BE3D3-433C-8794-0D27-7CC6CB641AC5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751418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Do not </a:t>
              </a:r>
              <a:r>
                <a:rPr lang="fr-FR" sz="1200" err="1">
                  <a:solidFill>
                    <a:srgbClr val="336699"/>
                  </a:solidFill>
                </a:rPr>
                <a:t>underestimate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this</a:t>
              </a:r>
              <a:r>
                <a:rPr lang="fr-FR" sz="1200">
                  <a:solidFill>
                    <a:srgbClr val="336699"/>
                  </a:solidFill>
                </a:rPr>
                <a:t> slide: a Waouh </a:t>
              </a:r>
              <a:r>
                <a:rPr lang="fr-FR" sz="1200" err="1">
                  <a:solidFill>
                    <a:srgbClr val="336699"/>
                  </a:solidFill>
                </a:rPr>
                <a:t>effect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may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differentiate</a:t>
              </a:r>
              <a:r>
                <a:rPr lang="fr-FR" sz="1200">
                  <a:solidFill>
                    <a:srgbClr val="336699"/>
                  </a:solidFill>
                </a:rPr>
                <a:t> SQLI </a:t>
              </a:r>
              <a:r>
                <a:rPr lang="fr-FR" sz="1200" err="1">
                  <a:solidFill>
                    <a:srgbClr val="336699"/>
                  </a:solidFill>
                </a:rPr>
                <a:t>offer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from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competitors</a:t>
              </a:r>
              <a:r>
                <a:rPr lang="fr-FR" sz="1200">
                  <a:solidFill>
                    <a:srgbClr val="336699"/>
                  </a:solidFill>
                </a:rPr>
                <a:t>’ </a:t>
              </a:r>
              <a:r>
                <a:rPr lang="fr-FR" sz="1200" err="1">
                  <a:solidFill>
                    <a:srgbClr val="336699"/>
                  </a:solidFill>
                </a:rPr>
                <a:t>ones</a:t>
              </a:r>
              <a:r>
                <a:rPr lang="fr-FR" sz="1200">
                  <a:solidFill>
                    <a:srgbClr val="336699"/>
                  </a:solidFill>
                </a:rPr>
                <a:t>. Plus, </a:t>
              </a:r>
              <a:r>
                <a:rPr lang="fr-FR" sz="1200" err="1">
                  <a:solidFill>
                    <a:srgbClr val="336699"/>
                  </a:solidFill>
                </a:rPr>
                <a:t>it’s</a:t>
              </a:r>
              <a:r>
                <a:rPr lang="fr-FR" sz="1200">
                  <a:solidFill>
                    <a:srgbClr val="336699"/>
                  </a:solidFill>
                </a:rPr>
                <a:t> an </a:t>
              </a:r>
              <a:r>
                <a:rPr lang="fr-FR" sz="1200" err="1">
                  <a:solidFill>
                    <a:srgbClr val="336699"/>
                  </a:solidFill>
                </a:rPr>
                <a:t>opportunity</a:t>
              </a:r>
              <a:r>
                <a:rPr lang="fr-FR" sz="1200">
                  <a:solidFill>
                    <a:srgbClr val="336699"/>
                  </a:solidFill>
                </a:rPr>
                <a:t> to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creative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here</a:t>
              </a:r>
              <a:r>
                <a:rPr lang="fr-FR" sz="1200">
                  <a:solidFill>
                    <a:srgbClr val="336699"/>
                  </a:solidFill>
                </a:rPr>
                <a:t> ;)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Ne pas sous-estimer ce slide : un effet Waouh peut différencier l’offre SQLI de celles de ces concurrents. En plus, c’est une opportunité d’être créatif ;)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1B42DC-12C1-3947-9F0D-27A322987204}"/>
                </a:ext>
              </a:extLst>
            </p:cNvPr>
            <p:cNvSpPr/>
            <p:nvPr/>
          </p:nvSpPr>
          <p:spPr>
            <a:xfrm>
              <a:off x="5739511" y="1663756"/>
              <a:ext cx="467360" cy="1751417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596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H" sz="2800"/>
              <a:t>In-SCOPE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The </a:t>
            </a:r>
            <a:r>
              <a:rPr lang="fr-CH" err="1"/>
              <a:t>activities</a:t>
            </a:r>
            <a:r>
              <a:rPr lang="fr-CH"/>
              <a:t> </a:t>
            </a:r>
            <a:r>
              <a:rPr lang="fr-CH" err="1"/>
              <a:t>we</a:t>
            </a:r>
            <a:r>
              <a:rPr lang="fr-CH"/>
              <a:t> </a:t>
            </a:r>
            <a:r>
              <a:rPr lang="fr-CH" err="1"/>
              <a:t>will</a:t>
            </a:r>
            <a:r>
              <a:rPr lang="fr-CH"/>
              <a:t> cover are: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Les activités que nous allons adresser sont les suivantes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The outputs the client </a:t>
            </a:r>
            <a:r>
              <a:rPr lang="fr-CH" err="1"/>
              <a:t>will</a:t>
            </a:r>
            <a:r>
              <a:rPr lang="fr-CH"/>
              <a:t> </a:t>
            </a:r>
            <a:r>
              <a:rPr lang="fr-CH" err="1"/>
              <a:t>validate</a:t>
            </a:r>
            <a:r>
              <a:rPr lang="fr-CH"/>
              <a:t> are: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Les livrables que le client recevra de notre part et validera sont les suivants :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</a:t>
            </a:r>
            <a:r>
              <a:rPr lang="en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hat we engage</a:t>
            </a:r>
            <a:r>
              <a:rPr lang="fr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IN, in </a:t>
            </a:r>
            <a:r>
              <a:rPr lang="fr-CH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terms</a:t>
            </a:r>
            <a:r>
              <a:rPr lang="fr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of </a:t>
            </a:r>
            <a:r>
              <a:rPr lang="fr-CH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delivery</a:t>
            </a:r>
            <a:endParaRPr lang="en-CH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1F08BB6D-3438-6442-1964-053BA665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AEE77DEA-B39F-C65B-AE5C-E04892827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795826"/>
              </p:ext>
            </p:extLst>
          </p:nvPr>
        </p:nvGraphicFramePr>
        <p:xfrm>
          <a:off x="974035" y="3078170"/>
          <a:ext cx="10508730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312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48828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339065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339065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Outputs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Assumptions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Volume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Validation Rounds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808AE8DE-EECD-478E-615E-FA1EF0F673DA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D94E57-3E98-A90B-E5DE-CE594D79B686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7CCBA2-97F4-DA3E-79DF-BCAE9CCA1318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5BFB2DC-CA10-6A53-EF60-EB59508F439C}"/>
              </a:ext>
            </a:extLst>
          </p:cNvPr>
          <p:cNvGrpSpPr/>
          <p:nvPr/>
        </p:nvGrpSpPr>
        <p:grpSpPr>
          <a:xfrm>
            <a:off x="7752713" y="1601863"/>
            <a:ext cx="3552825" cy="1212810"/>
            <a:chOff x="5739511" y="1663757"/>
            <a:chExt cx="3552825" cy="1212810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27F93E4D-80BC-50DC-5B56-F6C2D704E1BF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212809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200">
                  <a:solidFill>
                    <a:srgbClr val="336699"/>
                  </a:solidFill>
                </a:rPr>
                <a:t>Be careful to the validation rounds and the consequences on budget.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100" b="0" i="1">
                  <a:solidFill>
                    <a:srgbClr val="336699"/>
                  </a:solidFill>
                </a:rPr>
                <a:t>Merci d’être </a:t>
              </a:r>
              <a:r>
                <a:rPr lang="en-CH" sz="1100" b="0" i="1" err="1">
                  <a:solidFill>
                    <a:srgbClr val="336699"/>
                  </a:solidFill>
                </a:rPr>
                <a:t>attentif</a:t>
              </a:r>
              <a:r>
                <a:rPr lang="en-CH" sz="1100" b="0" i="1">
                  <a:solidFill>
                    <a:srgbClr val="336699"/>
                  </a:solidFill>
                </a:rPr>
                <a:t> aux </a:t>
              </a:r>
              <a:r>
                <a:rPr lang="en-CH" sz="1100" b="0" i="1" err="1">
                  <a:solidFill>
                    <a:srgbClr val="336699"/>
                  </a:solidFill>
                </a:rPr>
                <a:t>allers</a:t>
              </a:r>
              <a:r>
                <a:rPr lang="en-CH" sz="1100" b="0" i="1">
                  <a:solidFill>
                    <a:srgbClr val="336699"/>
                  </a:solidFill>
                </a:rPr>
                <a:t>-retours de validation, qui </a:t>
              </a:r>
              <a:r>
                <a:rPr lang="en-CH" sz="1100" b="0" i="1" err="1">
                  <a:solidFill>
                    <a:srgbClr val="336699"/>
                  </a:solidFill>
                </a:rPr>
                <a:t>impactent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notamment</a:t>
              </a:r>
              <a:r>
                <a:rPr lang="en-CH" sz="1100" b="0" i="1">
                  <a:solidFill>
                    <a:srgbClr val="336699"/>
                  </a:solidFill>
                </a:rPr>
                <a:t> les estimations </a:t>
              </a:r>
              <a:r>
                <a:rPr lang="en-CH" sz="1100" b="0" i="1" err="1">
                  <a:solidFill>
                    <a:srgbClr val="336699"/>
                  </a:solidFill>
                </a:rPr>
                <a:t>budgétaires</a:t>
              </a:r>
              <a:r>
                <a:rPr lang="en-CH" sz="1100" b="0" i="1">
                  <a:solidFill>
                    <a:srgbClr val="336699"/>
                  </a:solidFill>
                </a:rPr>
                <a:t>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210C55-0CF7-1149-923D-C4CA484539FF}"/>
                </a:ext>
              </a:extLst>
            </p:cNvPr>
            <p:cNvSpPr/>
            <p:nvPr/>
          </p:nvSpPr>
          <p:spPr>
            <a:xfrm>
              <a:off x="5739511" y="1663757"/>
              <a:ext cx="467360" cy="1212809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3200" i="1" err="1">
                  <a:latin typeface="Bodoni MT Black" panose="02070A03080606020203" pitchFamily="18" charset="0"/>
                </a:rPr>
                <a:t>i</a:t>
              </a:r>
              <a:endParaRPr lang="en-CH" sz="3200" i="1">
                <a:latin typeface="Bodoni MT Black" panose="02070A030806060202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393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OUT-OF-SCOPE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The </a:t>
            </a:r>
            <a:r>
              <a:rPr lang="fr-CH" err="1"/>
              <a:t>activities</a:t>
            </a:r>
            <a:r>
              <a:rPr lang="fr-CH"/>
              <a:t> </a:t>
            </a:r>
            <a:r>
              <a:rPr lang="fr-CH" err="1"/>
              <a:t>we</a:t>
            </a:r>
            <a:r>
              <a:rPr lang="fr-CH"/>
              <a:t> </a:t>
            </a:r>
            <a:r>
              <a:rPr lang="fr-CH" err="1"/>
              <a:t>won’t</a:t>
            </a:r>
            <a:r>
              <a:rPr lang="fr-CH"/>
              <a:t> cover are: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Les activités suivantes sont exclues de notre périmètre d’intervention et de notre proposition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The </a:t>
            </a:r>
            <a:r>
              <a:rPr lang="fr-CH" err="1"/>
              <a:t>Dependencies</a:t>
            </a:r>
            <a:r>
              <a:rPr lang="fr-CH"/>
              <a:t> </a:t>
            </a:r>
            <a:r>
              <a:rPr lang="fr-CH" err="1"/>
              <a:t>identified</a:t>
            </a:r>
            <a:r>
              <a:rPr lang="fr-CH"/>
              <a:t> are: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Les dépendances suivantes, à considérer dans notre cadre de réponse, ont été identifiées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What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consider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as exclusions at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this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stage (but can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be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options)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606AEFC1-69D9-7F5F-ED40-F60801615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01195177-9AA7-5FCE-3BC5-17A2B1860F20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8595C4-FE2B-6642-0659-53034751B72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C19513-B98E-31BE-EFF7-687906477E39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4F53C06-EAA7-D378-9ED5-B19A87B3C168}"/>
              </a:ext>
            </a:extLst>
          </p:cNvPr>
          <p:cNvGrpSpPr/>
          <p:nvPr/>
        </p:nvGrpSpPr>
        <p:grpSpPr>
          <a:xfrm>
            <a:off x="4522007" y="3913676"/>
            <a:ext cx="3552825" cy="1920696"/>
            <a:chOff x="5739511" y="1663758"/>
            <a:chExt cx="3552825" cy="1920696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54F0C31-57DE-1634-983F-04DDDACC89D5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Exclusions are important (as </a:t>
              </a:r>
              <a:r>
                <a:rPr lang="fr-FR" sz="1200" err="1">
                  <a:solidFill>
                    <a:srgbClr val="336699"/>
                  </a:solidFill>
                </a:rPr>
                <a:t>much</a:t>
              </a:r>
              <a:r>
                <a:rPr lang="fr-FR" sz="1200">
                  <a:solidFill>
                    <a:srgbClr val="336699"/>
                  </a:solidFill>
                </a:rPr>
                <a:t> as in-</a:t>
              </a:r>
              <a:r>
                <a:rPr lang="fr-FR" sz="1200" err="1">
                  <a:solidFill>
                    <a:srgbClr val="336699"/>
                  </a:solidFill>
                </a:rPr>
                <a:t>scoped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activities</a:t>
              </a:r>
              <a:r>
                <a:rPr lang="fr-FR" sz="1200">
                  <a:solidFill>
                    <a:srgbClr val="336699"/>
                  </a:solidFill>
                </a:rPr>
                <a:t>). Exclusions can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added</a:t>
              </a:r>
              <a:r>
                <a:rPr lang="fr-FR" sz="1200">
                  <a:solidFill>
                    <a:srgbClr val="336699"/>
                  </a:solidFill>
                </a:rPr>
                <a:t> as options to the </a:t>
              </a:r>
              <a:r>
                <a:rPr lang="fr-FR" sz="1200" err="1">
                  <a:solidFill>
                    <a:srgbClr val="336699"/>
                  </a:solidFill>
                </a:rPr>
                <a:t>proposal</a:t>
              </a:r>
              <a:r>
                <a:rPr lang="fr-FR" sz="1200">
                  <a:solidFill>
                    <a:srgbClr val="336699"/>
                  </a:solidFill>
                </a:rPr>
                <a:t> if </a:t>
              </a:r>
              <a:r>
                <a:rPr lang="fr-FR" sz="1200" err="1">
                  <a:solidFill>
                    <a:srgbClr val="336699"/>
                  </a:solidFill>
                </a:rPr>
                <a:t>it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makes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sense</a:t>
              </a:r>
              <a:r>
                <a:rPr lang="fr-FR" sz="1200">
                  <a:solidFill>
                    <a:srgbClr val="336699"/>
                  </a:solidFill>
                </a:rPr>
                <a:t>, </a:t>
              </a:r>
              <a:r>
                <a:rPr lang="fr-FR" sz="1200" err="1">
                  <a:solidFill>
                    <a:srgbClr val="336699"/>
                  </a:solidFill>
                </a:rPr>
                <a:t>with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associated</a:t>
              </a:r>
              <a:r>
                <a:rPr lang="fr-FR" sz="1200">
                  <a:solidFill>
                    <a:srgbClr val="336699"/>
                  </a:solidFill>
                </a:rPr>
                <a:t> budgets.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Les exclusions sont aussi importantes que les activités faisant partie du périmètre SQLI. Ces exclusions peuvent être traitées comme des options dans la proposition, avec leurs estimations associées.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5DFFEE-818D-5C77-C6D1-8F6DB27C16AC}"/>
                </a:ext>
              </a:extLst>
            </p:cNvPr>
            <p:cNvSpPr/>
            <p:nvPr/>
          </p:nvSpPr>
          <p:spPr>
            <a:xfrm>
              <a:off x="5739511" y="1663758"/>
              <a:ext cx="467360" cy="1920696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852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Delivery model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What</a:t>
            </a:r>
            <a:r>
              <a:rPr lang="fr-FR"/>
              <a:t> are the </a:t>
            </a:r>
            <a:r>
              <a:rPr lang="fr-FR" err="1"/>
              <a:t>identified</a:t>
            </a:r>
            <a:r>
              <a:rPr lang="fr-FR"/>
              <a:t> </a:t>
            </a:r>
            <a:r>
              <a:rPr lang="fr-FR" err="1"/>
              <a:t>risks</a:t>
            </a:r>
            <a:r>
              <a:rPr lang="fr-FR"/>
              <a:t> </a:t>
            </a:r>
            <a:r>
              <a:rPr lang="fr-FR" err="1"/>
              <a:t>within</a:t>
            </a:r>
            <a:r>
              <a:rPr lang="fr-FR"/>
              <a:t> the </a:t>
            </a:r>
            <a:r>
              <a:rPr lang="fr-FR" err="1"/>
              <a:t>project</a:t>
            </a:r>
            <a:r>
              <a:rPr lang="fr-FR"/>
              <a:t>?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Quels risques ont été identifiés et comment s’en prémunir ?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explain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risks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84CDE57E-3394-FBC0-4682-FC965D0F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7CC8668E-39E6-8602-F48E-19B6514AD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127891"/>
              </p:ext>
            </p:extLst>
          </p:nvPr>
        </p:nvGraphicFramePr>
        <p:xfrm>
          <a:off x="974035" y="2285468"/>
          <a:ext cx="10508728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7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  <a:gridCol w="3517323">
                  <a:extLst>
                    <a:ext uri="{9D8B030D-6E8A-4147-A177-3AD203B41FA5}">
                      <a16:colId xmlns:a16="http://schemas.microsoft.com/office/drawing/2014/main" val="1410351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Risks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Description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Criticity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Mitigation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32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6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289418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A94CFFC5-444A-A443-C8BA-5AF38E300CFD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E83E16-50EB-0B86-CCCC-B3B9320BAA0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91D0FB-CEEA-6180-14D8-0275DAEF8939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FDFD5C8-699F-DEC7-3577-D93C60A77671}"/>
              </a:ext>
            </a:extLst>
          </p:cNvPr>
          <p:cNvGrpSpPr/>
          <p:nvPr/>
        </p:nvGrpSpPr>
        <p:grpSpPr>
          <a:xfrm>
            <a:off x="2231294" y="3913676"/>
            <a:ext cx="3552825" cy="1920696"/>
            <a:chOff x="5739511" y="1663758"/>
            <a:chExt cx="3552825" cy="1920696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9A33736-FE02-F32A-1965-ED347848B286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Risks </a:t>
              </a:r>
              <a:r>
                <a:rPr lang="fr-FR" sz="1200" err="1">
                  <a:solidFill>
                    <a:srgbClr val="336699"/>
                  </a:solidFill>
                </a:rPr>
                <a:t>here</a:t>
              </a:r>
              <a:r>
                <a:rPr lang="fr-FR" sz="1200">
                  <a:solidFill>
                    <a:srgbClr val="336699"/>
                  </a:solidFill>
                </a:rPr>
                <a:t> are the </a:t>
              </a:r>
              <a:r>
                <a:rPr lang="fr-FR" sz="1200" err="1">
                  <a:solidFill>
                    <a:srgbClr val="336699"/>
                  </a:solidFill>
                </a:rPr>
                <a:t>ones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identified</a:t>
              </a:r>
              <a:r>
                <a:rPr lang="fr-FR" sz="1200">
                  <a:solidFill>
                    <a:srgbClr val="336699"/>
                  </a:solidFill>
                </a:rPr>
                <a:t> for SQLI </a:t>
              </a:r>
              <a:r>
                <a:rPr lang="fr-FR" sz="1200" err="1">
                  <a:solidFill>
                    <a:srgbClr val="336699"/>
                  </a:solidFill>
                </a:rPr>
                <a:t>only</a:t>
              </a:r>
              <a:r>
                <a:rPr lang="fr-FR" sz="1200">
                  <a:solidFill>
                    <a:srgbClr val="336699"/>
                  </a:solidFill>
                </a:rPr>
                <a:t>. </a:t>
              </a:r>
              <a:r>
                <a:rPr lang="fr-FR" sz="1200" err="1">
                  <a:solidFill>
                    <a:srgbClr val="336699"/>
                  </a:solidFill>
                </a:rPr>
                <a:t>These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risks</a:t>
              </a:r>
              <a:r>
                <a:rPr lang="fr-FR" sz="1200">
                  <a:solidFill>
                    <a:srgbClr val="336699"/>
                  </a:solidFill>
                </a:rPr>
                <a:t> have to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the more exhaustive as possible, </a:t>
              </a:r>
              <a:r>
                <a:rPr lang="fr-FR" sz="1200" err="1">
                  <a:solidFill>
                    <a:srgbClr val="336699"/>
                  </a:solidFill>
                </a:rPr>
                <a:t>reflected</a:t>
              </a:r>
              <a:r>
                <a:rPr lang="fr-FR" sz="1200">
                  <a:solidFill>
                    <a:srgbClr val="336699"/>
                  </a:solidFill>
                </a:rPr>
                <a:t> in the </a:t>
              </a:r>
              <a:r>
                <a:rPr lang="fr-FR" sz="1200" err="1">
                  <a:solidFill>
                    <a:srgbClr val="336699"/>
                  </a:solidFill>
                </a:rPr>
                <a:t>risks</a:t>
              </a:r>
              <a:r>
                <a:rPr lang="fr-FR" sz="1200">
                  <a:solidFill>
                    <a:srgbClr val="336699"/>
                  </a:solidFill>
                </a:rPr>
                <a:t> provision.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Les risques listés ici sont ceux qui s’appliquent à SQLI uniquement. Ils doivent être aussi exhaustifs que possibles et être reflétés dans la provision pour risques opérationnels prévue au budget.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CA70DC-9097-9279-B984-9F1F74CB2260}"/>
                </a:ext>
              </a:extLst>
            </p:cNvPr>
            <p:cNvSpPr/>
            <p:nvPr/>
          </p:nvSpPr>
          <p:spPr>
            <a:xfrm>
              <a:off x="5739511" y="1663758"/>
              <a:ext cx="467360" cy="1920696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226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F58E13B-2DA0-CB71-E454-27DA8E787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Delivery model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94A719-8070-66C8-B077-0C1C7257D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Is </a:t>
            </a:r>
            <a:r>
              <a:rPr lang="fr-CH" err="1"/>
              <a:t>there</a:t>
            </a:r>
            <a:r>
              <a:rPr lang="fr-CH"/>
              <a:t> a planning and/or a deadline in the client </a:t>
            </a:r>
            <a:r>
              <a:rPr lang="fr-CH" err="1"/>
              <a:t>request</a:t>
            </a:r>
            <a:r>
              <a:rPr lang="fr-CH"/>
              <a:t>?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Le client a-t-il déjà partagé un calendrier ou des échéances ? Si oui lesquels ?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Road to </a:t>
            </a:r>
            <a:r>
              <a:rPr lang="fr-CH" err="1"/>
              <a:t>success</a:t>
            </a:r>
            <a:r>
              <a:rPr lang="fr-CH"/>
              <a:t>: </a:t>
            </a:r>
            <a:r>
              <a:rPr lang="fr-CH" err="1"/>
              <a:t>please</a:t>
            </a:r>
            <a:r>
              <a:rPr lang="fr-CH"/>
              <a:t> Phase the </a:t>
            </a:r>
            <a:r>
              <a:rPr lang="fr-CH" err="1"/>
              <a:t>project</a:t>
            </a:r>
            <a:endParaRPr lang="fr-CH"/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Précisez les grandes phases du projet telles que nous les appréhendons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016D3-75C7-D01E-EFEA-91F7F70470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explain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timeline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9EEF08-9CF4-6D7B-4951-8488DADE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CEF8EA86-75C4-BE2C-FEC2-06E791D0B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E0B2DA9F-7D82-E9A2-C303-CDF0B57EF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515852"/>
              </p:ext>
            </p:extLst>
          </p:nvPr>
        </p:nvGraphicFramePr>
        <p:xfrm>
          <a:off x="1192733" y="3116677"/>
          <a:ext cx="8196364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18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5901179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Projects Phases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>
                          <a:latin typeface="Arial Nova Cond" panose="020B0506020202020204" pitchFamily="34" charset="0"/>
                        </a:rPr>
                        <a:t>Description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B759A0E4-4064-25CF-FCA3-F2ED0A485451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D4B855-F691-EB3C-018E-074C8CD8A084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4F7CC1-A8C9-A13F-95E2-7F39472DEC9D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636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ED7CF38-F0D5-43AE-BCB0-AF7451CD31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H" sz="2800"/>
              <a:t>Delivery model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9FE3BF-9D6A-71F6-B12D-336A32F810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Road to </a:t>
            </a:r>
            <a:r>
              <a:rPr lang="fr-FR" err="1"/>
              <a:t>success</a:t>
            </a:r>
            <a:r>
              <a:rPr lang="fr-FR"/>
              <a:t>: </a:t>
            </a:r>
            <a:r>
              <a:rPr lang="fr-FR" err="1"/>
              <a:t>please</a:t>
            </a:r>
            <a:r>
              <a:rPr lang="fr-FR"/>
              <a:t> insert </a:t>
            </a:r>
            <a:r>
              <a:rPr lang="fr-FR" err="1"/>
              <a:t>detailed</a:t>
            </a:r>
            <a:r>
              <a:rPr lang="fr-FR"/>
              <a:t> planning (</a:t>
            </a:r>
            <a:r>
              <a:rPr lang="fr-FR" err="1"/>
              <a:t>assumption</a:t>
            </a:r>
            <a:r>
              <a:rPr lang="fr-FR"/>
              <a:t>)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Merci d’insérer le planning </a:t>
            </a:r>
            <a:r>
              <a:rPr lang="fr-FR" err="1">
                <a:solidFill>
                  <a:schemeClr val="accent2">
                    <a:lumMod val="75000"/>
                  </a:schemeClr>
                </a:solidFill>
              </a:rPr>
              <a:t>prévisionnnel</a:t>
            </a: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 détaillé du projet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4F26D2-36F3-6E6F-7976-447EF0A0C6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Please detail the timeline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D311CF-E633-6948-D415-18041039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24FC2ED1-425C-ACFE-F11A-0DE0EBC7C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680E093A-9EE9-4462-2BAC-0F6609167758}"/>
              </a:ext>
            </a:extLst>
          </p:cNvPr>
          <p:cNvGrpSpPr/>
          <p:nvPr/>
        </p:nvGrpSpPr>
        <p:grpSpPr>
          <a:xfrm>
            <a:off x="5894366" y="3512699"/>
            <a:ext cx="3552825" cy="1920696"/>
            <a:chOff x="5739511" y="1663757"/>
            <a:chExt cx="3552825" cy="1920696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6A3CDF2-C724-FF0D-2F8F-AF5638252985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The budget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co-built</a:t>
              </a:r>
              <a:r>
                <a:rPr lang="fr-FR" sz="1200">
                  <a:solidFill>
                    <a:srgbClr val="336699"/>
                  </a:solidFill>
                </a:rPr>
                <a:t> by all </a:t>
              </a:r>
              <a:r>
                <a:rPr lang="fr-FR" sz="1200" err="1">
                  <a:solidFill>
                    <a:srgbClr val="336699"/>
                  </a:solidFill>
                </a:rPr>
                <a:t>bid</a:t>
              </a:r>
              <a:r>
                <a:rPr lang="fr-FR" sz="1200">
                  <a:solidFill>
                    <a:srgbClr val="336699"/>
                  </a:solidFill>
                </a:rPr>
                <a:t> parties </a:t>
              </a:r>
              <a:r>
                <a:rPr lang="fr-FR" sz="1200" err="1">
                  <a:solidFill>
                    <a:srgbClr val="336699"/>
                  </a:solidFill>
                </a:rPr>
                <a:t>based</a:t>
              </a:r>
              <a:r>
                <a:rPr lang="fr-FR" sz="1200">
                  <a:solidFill>
                    <a:srgbClr val="336699"/>
                  </a:solidFill>
                </a:rPr>
                <a:t> on </a:t>
              </a:r>
              <a:r>
                <a:rPr lang="fr-FR" sz="1200" err="1">
                  <a:solidFill>
                    <a:srgbClr val="336699"/>
                  </a:solidFill>
                </a:rPr>
                <a:t>shared</a:t>
              </a:r>
              <a:r>
                <a:rPr lang="fr-FR" sz="1200">
                  <a:solidFill>
                    <a:srgbClr val="336699"/>
                  </a:solidFill>
                </a:rPr>
                <a:t> and </a:t>
              </a:r>
              <a:r>
                <a:rPr lang="fr-FR" sz="1200" err="1">
                  <a:solidFill>
                    <a:srgbClr val="336699"/>
                  </a:solidFill>
                </a:rPr>
                <a:t>agreed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assumptions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defined</a:t>
              </a:r>
              <a:r>
                <a:rPr lang="fr-FR" sz="1200">
                  <a:solidFill>
                    <a:srgbClr val="336699"/>
                  </a:solidFill>
                </a:rPr>
                <a:t> all </a:t>
              </a:r>
              <a:r>
                <a:rPr lang="fr-FR" sz="1200" err="1">
                  <a:solidFill>
                    <a:srgbClr val="336699"/>
                  </a:solidFill>
                </a:rPr>
                <a:t>together.It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validated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through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peer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reviews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Le budget est coconstruit avec les parties prenantes du </a:t>
              </a:r>
              <a:r>
                <a:rPr lang="fr-FR" sz="1100" b="0" i="1" err="1">
                  <a:solidFill>
                    <a:srgbClr val="336699"/>
                  </a:solidFill>
                </a:rPr>
                <a:t>bid</a:t>
              </a:r>
              <a:r>
                <a:rPr lang="fr-FR" sz="1100" b="0" i="1">
                  <a:solidFill>
                    <a:srgbClr val="336699"/>
                  </a:solidFill>
                </a:rPr>
                <a:t> à partir d’hypothèses partagées at acceptées par toutes ces parties. Le budget est validé en revue de pairs.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A4503E-95B0-6711-3D5F-383235CA964F}"/>
                </a:ext>
              </a:extLst>
            </p:cNvPr>
            <p:cNvSpPr/>
            <p:nvPr/>
          </p:nvSpPr>
          <p:spPr>
            <a:xfrm>
              <a:off x="5739511" y="1663757"/>
              <a:ext cx="467360" cy="192069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EBC1B21-1FFD-49E0-6637-A6030498FC52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AB25EE-85E2-73CE-E829-24E9B031B9C5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04AB8F-163C-E552-BA94-9FE3D5D4421B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833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DF01A59-923C-85D0-7CFE-C54DFA396C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Delivery model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6FD2BE-DA2B-9F3C-0376-00B88D2186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share</a:t>
            </a:r>
            <a:r>
              <a:rPr lang="fr-CH"/>
              <a:t> the profiles, Location, </a:t>
            </a:r>
            <a:r>
              <a:rPr lang="fr-CH" err="1"/>
              <a:t>FTE’s</a:t>
            </a:r>
            <a:r>
              <a:rPr lang="fr-CH"/>
              <a:t>, and </a:t>
            </a:r>
            <a:r>
              <a:rPr lang="fr-CH" err="1"/>
              <a:t>organization</a:t>
            </a:r>
            <a:r>
              <a:rPr lang="fr-CH"/>
              <a:t> as a </a:t>
            </a:r>
            <a:r>
              <a:rPr lang="fr-CH" err="1"/>
              <a:t>pyramid</a:t>
            </a:r>
            <a:r>
              <a:rPr lang="fr-CH"/>
              <a:t> chart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Merci de partager la pyramide des profils, ainsi que les ETP et localisations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E046A9-DB26-AD70-9471-F2D28FAF95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describe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org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. Chart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8D2094-E761-6196-EA83-C007315A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41AEBEA-9F55-6133-5D3D-42AC60F9481B}"/>
              </a:ext>
            </a:extLst>
          </p:cNvPr>
          <p:cNvCxnSpPr>
            <a:cxnSpLocks/>
          </p:cNvCxnSpPr>
          <p:nvPr/>
        </p:nvCxnSpPr>
        <p:spPr>
          <a:xfrm>
            <a:off x="6095999" y="2677585"/>
            <a:ext cx="0" cy="4672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8" descr="Solution - Icônes divers gratuites">
            <a:extLst>
              <a:ext uri="{FF2B5EF4-FFF2-40B4-BE49-F238E27FC236}">
                <a16:creationId xmlns:a16="http://schemas.microsoft.com/office/drawing/2014/main" id="{7B0D56A0-880E-A17C-0F4A-E1E7DDB8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56D249FA-6308-9642-83EB-FDD6C5C6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14207"/>
              </p:ext>
            </p:extLst>
          </p:nvPr>
        </p:nvGraphicFramePr>
        <p:xfrm>
          <a:off x="4761615" y="2350704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233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W Sr.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8C69709D-DA8D-FE22-FD16-53FE358DE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83081"/>
              </p:ext>
            </p:extLst>
          </p:nvPr>
        </p:nvGraphicFramePr>
        <p:xfrm>
          <a:off x="4761615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Y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BX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46755167-00D4-DE83-3CC7-EADAB56FB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529374"/>
              </p:ext>
            </p:extLst>
          </p:nvPr>
        </p:nvGraphicFramePr>
        <p:xfrm>
          <a:off x="1796625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X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1" name="Tableau 3">
            <a:extLst>
              <a:ext uri="{FF2B5EF4-FFF2-40B4-BE49-F238E27FC236}">
                <a16:creationId xmlns:a16="http://schemas.microsoft.com/office/drawing/2014/main" id="{B08FDEC9-529D-3402-A647-831CB4A10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50212"/>
              </p:ext>
            </p:extLst>
          </p:nvPr>
        </p:nvGraphicFramePr>
        <p:xfrm>
          <a:off x="7726606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Z Int.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CH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5642D2B-757E-D7CE-B373-7A028F35C549}"/>
              </a:ext>
            </a:extLst>
          </p:cNvPr>
          <p:cNvCxnSpPr>
            <a:cxnSpLocks/>
          </p:cNvCxnSpPr>
          <p:nvPr/>
        </p:nvCxnSpPr>
        <p:spPr>
          <a:xfrm>
            <a:off x="3155817" y="2911185"/>
            <a:ext cx="0" cy="2336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B8D37FD9-9AFA-492F-A01B-1E53FF7E2116}"/>
              </a:ext>
            </a:extLst>
          </p:cNvPr>
          <p:cNvCxnSpPr>
            <a:cxnSpLocks/>
          </p:cNvCxnSpPr>
          <p:nvPr/>
        </p:nvCxnSpPr>
        <p:spPr>
          <a:xfrm>
            <a:off x="9060990" y="2911185"/>
            <a:ext cx="0" cy="2336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B49DAB2-4473-4798-7CC4-628C3B64E1C2}"/>
              </a:ext>
            </a:extLst>
          </p:cNvPr>
          <p:cNvCxnSpPr/>
          <p:nvPr/>
        </p:nvCxnSpPr>
        <p:spPr>
          <a:xfrm>
            <a:off x="3155817" y="2911185"/>
            <a:ext cx="59051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au 3">
            <a:extLst>
              <a:ext uri="{FF2B5EF4-FFF2-40B4-BE49-F238E27FC236}">
                <a16:creationId xmlns:a16="http://schemas.microsoft.com/office/drawing/2014/main" id="{39A48289-490C-1C1E-776A-D25DB40B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014745"/>
              </p:ext>
            </p:extLst>
          </p:nvPr>
        </p:nvGraphicFramePr>
        <p:xfrm>
          <a:off x="4761615" y="3643146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Y Jr.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pSp>
        <p:nvGrpSpPr>
          <p:cNvPr id="16" name="Groupe 15">
            <a:extLst>
              <a:ext uri="{FF2B5EF4-FFF2-40B4-BE49-F238E27FC236}">
                <a16:creationId xmlns:a16="http://schemas.microsoft.com/office/drawing/2014/main" id="{C439E83F-D527-0901-A5EC-F6DBD46893DC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7B00D7-70F1-CF65-36F8-FB367E0B670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FD0557-F7FD-AD86-C25D-A70F76F6E61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81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D1BD91A-99EF-B8FA-A325-F359BD3270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Delivery model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949C5C-29D2-85DF-ADC5-B9ACF675D6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workload</a:t>
            </a:r>
            <a:r>
              <a:rPr lang="fr-FR"/>
              <a:t> plan per profile to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committed</a:t>
            </a:r>
            <a:r>
              <a:rPr lang="fr-FR"/>
              <a:t> by </a:t>
            </a:r>
            <a:r>
              <a:rPr lang="fr-FR" err="1"/>
              <a:t>related</a:t>
            </a:r>
            <a:r>
              <a:rPr lang="fr-FR"/>
              <a:t> </a:t>
            </a:r>
            <a:r>
              <a:rPr lang="fr-FR" err="1"/>
              <a:t>Staffing</a:t>
            </a:r>
            <a:r>
              <a:rPr lang="fr-FR"/>
              <a:t> managers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Merci de partager le plan de charges par profil, sur lequel les </a:t>
            </a:r>
            <a:r>
              <a:rPr lang="fr-FR" err="1">
                <a:solidFill>
                  <a:schemeClr val="accent2">
                    <a:lumMod val="75000"/>
                  </a:schemeClr>
                </a:solidFill>
              </a:rPr>
              <a:t>Staffing</a:t>
            </a: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 Managers vont s’engager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9BA2F3-A09A-4959-C843-3EFD857E97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explain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workload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plan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BACE49-9AD8-9F04-57FD-D5C0FF66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9F596108-3640-1B2E-BC80-A96E4701E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7B174C7A-B2BE-623B-4950-70935FB56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16651"/>
              </p:ext>
            </p:extLst>
          </p:nvPr>
        </p:nvGraphicFramePr>
        <p:xfrm>
          <a:off x="974033" y="2174286"/>
          <a:ext cx="10430072" cy="39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51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4131809735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Profiles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Location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Standard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costs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grade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Workload MD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52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53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74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093942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65B90D24-6F62-9491-B833-8B2F164B6187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F85026-34A8-83B7-FA26-175A6C96B991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46BCA-5D52-E869-CEA6-50E7C404CC65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8567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37EF789-C8F6-918F-CD7D-834A1D9CFD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Budget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18FA0A-A7CE-F802-13CE-1115F0310D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Who</a:t>
            </a:r>
            <a:r>
              <a:rPr lang="fr-FR"/>
              <a:t> </a:t>
            </a:r>
            <a:r>
              <a:rPr lang="fr-FR" err="1"/>
              <a:t>estimated</a:t>
            </a:r>
            <a:r>
              <a:rPr lang="fr-FR"/>
              <a:t> the </a:t>
            </a:r>
            <a:r>
              <a:rPr lang="fr-FR" err="1"/>
              <a:t>cost</a:t>
            </a:r>
            <a:r>
              <a:rPr lang="fr-FR"/>
              <a:t>? </a:t>
            </a:r>
            <a:r>
              <a:rPr lang="fr-FR" err="1"/>
              <a:t>Were</a:t>
            </a:r>
            <a:r>
              <a:rPr lang="fr-FR"/>
              <a:t> all </a:t>
            </a:r>
            <a:r>
              <a:rPr lang="fr-FR" err="1"/>
              <a:t>involved</a:t>
            </a:r>
            <a:r>
              <a:rPr lang="fr-FR"/>
              <a:t> parties part of </a:t>
            </a:r>
            <a:r>
              <a:rPr lang="fr-FR" err="1"/>
              <a:t>costing</a:t>
            </a:r>
            <a:r>
              <a:rPr lang="fr-FR"/>
              <a:t> design (</a:t>
            </a:r>
            <a:r>
              <a:rPr lang="fr-FR" err="1"/>
              <a:t>they</a:t>
            </a:r>
            <a:r>
              <a:rPr lang="fr-FR"/>
              <a:t> </a:t>
            </a:r>
            <a:r>
              <a:rPr lang="fr-FR" err="1"/>
              <a:t>should</a:t>
            </a:r>
            <a:r>
              <a:rPr lang="fr-FR"/>
              <a:t> </a:t>
            </a:r>
            <a:r>
              <a:rPr lang="fr-FR" err="1"/>
              <a:t>be</a:t>
            </a:r>
            <a:r>
              <a:rPr lang="fr-FR"/>
              <a:t>!)?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Qui a produit l’estimation budgétaire ? Est-ce que tous les acteurs ont bien été impliqués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specify</a:t>
            </a:r>
            <a:r>
              <a:rPr lang="fr-FR"/>
              <a:t> budget per phases:</a:t>
            </a:r>
          </a:p>
          <a:p>
            <a:pPr marL="216000" lvl="1" indent="0">
              <a:buNone/>
            </a:pPr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Merci de préciser le budget estimé par phase du projet :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7795D3-EDF8-9AB7-C26E-56AE1F74E0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Pricing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details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9F7D70-A60F-01D4-E69D-2DC9F3C3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9157AADE-18E9-057C-FCB4-1CA850CBB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B5F1A2A4-71A2-DE5B-EA84-0EFA783C6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34324"/>
              </p:ext>
            </p:extLst>
          </p:nvPr>
        </p:nvGraphicFramePr>
        <p:xfrm>
          <a:off x="1192733" y="3400765"/>
          <a:ext cx="6317458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084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Projects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Phases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MD per phase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€ per phase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CB09C9B1-5839-4E15-4BA4-EE22FF01D341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D83581-DFF0-2199-0B10-825D9CA66459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9B9D93-9C87-E508-87FC-39C5263CA726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7FD5B34-D880-F123-BB8A-BDE60208C29C}"/>
              </a:ext>
            </a:extLst>
          </p:cNvPr>
          <p:cNvGrpSpPr/>
          <p:nvPr/>
        </p:nvGrpSpPr>
        <p:grpSpPr>
          <a:xfrm>
            <a:off x="7148131" y="2050300"/>
            <a:ext cx="3552825" cy="1920696"/>
            <a:chOff x="5739511" y="1663757"/>
            <a:chExt cx="3552825" cy="1920696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020D6B2-5281-6E0A-2CF3-2DEF1690D18C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The budget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co-built</a:t>
              </a:r>
              <a:r>
                <a:rPr lang="fr-FR" sz="1200">
                  <a:solidFill>
                    <a:srgbClr val="336699"/>
                  </a:solidFill>
                </a:rPr>
                <a:t> by all </a:t>
              </a:r>
              <a:r>
                <a:rPr lang="fr-FR" sz="1200" err="1">
                  <a:solidFill>
                    <a:srgbClr val="336699"/>
                  </a:solidFill>
                </a:rPr>
                <a:t>bid</a:t>
              </a:r>
              <a:r>
                <a:rPr lang="fr-FR" sz="1200">
                  <a:solidFill>
                    <a:srgbClr val="336699"/>
                  </a:solidFill>
                </a:rPr>
                <a:t> parties </a:t>
              </a:r>
              <a:r>
                <a:rPr lang="fr-FR" sz="1200" err="1">
                  <a:solidFill>
                    <a:srgbClr val="336699"/>
                  </a:solidFill>
                </a:rPr>
                <a:t>based</a:t>
              </a:r>
              <a:r>
                <a:rPr lang="fr-FR" sz="1200">
                  <a:solidFill>
                    <a:srgbClr val="336699"/>
                  </a:solidFill>
                </a:rPr>
                <a:t> on </a:t>
              </a:r>
              <a:r>
                <a:rPr lang="fr-FR" sz="1200" err="1">
                  <a:solidFill>
                    <a:srgbClr val="336699"/>
                  </a:solidFill>
                </a:rPr>
                <a:t>shared</a:t>
              </a:r>
              <a:r>
                <a:rPr lang="fr-FR" sz="1200">
                  <a:solidFill>
                    <a:srgbClr val="336699"/>
                  </a:solidFill>
                </a:rPr>
                <a:t> and </a:t>
              </a:r>
              <a:r>
                <a:rPr lang="fr-FR" sz="1200" err="1">
                  <a:solidFill>
                    <a:srgbClr val="336699"/>
                  </a:solidFill>
                </a:rPr>
                <a:t>agreed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assumptions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defined</a:t>
              </a:r>
              <a:r>
                <a:rPr lang="fr-FR" sz="1200">
                  <a:solidFill>
                    <a:srgbClr val="336699"/>
                  </a:solidFill>
                </a:rPr>
                <a:t> all </a:t>
              </a:r>
              <a:r>
                <a:rPr lang="fr-FR" sz="1200" err="1">
                  <a:solidFill>
                    <a:srgbClr val="336699"/>
                  </a:solidFill>
                </a:rPr>
                <a:t>together.It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validated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through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peer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reviews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Le budget est coconstruit avec les parties prenantes du </a:t>
              </a:r>
              <a:r>
                <a:rPr lang="fr-FR" sz="1100" b="0" i="1" err="1">
                  <a:solidFill>
                    <a:srgbClr val="336699"/>
                  </a:solidFill>
                </a:rPr>
                <a:t>bid</a:t>
              </a:r>
              <a:r>
                <a:rPr lang="fr-FR" sz="1100" b="0" i="1">
                  <a:solidFill>
                    <a:srgbClr val="336699"/>
                  </a:solidFill>
                </a:rPr>
                <a:t> à partir d’hypothèses partagées at acceptées par toutes ces parties. Le budget est validé en revue de pairs.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D5D94F-DD0F-952C-A26A-EA08D1E5E2EC}"/>
                </a:ext>
              </a:extLst>
            </p:cNvPr>
            <p:cNvSpPr/>
            <p:nvPr/>
          </p:nvSpPr>
          <p:spPr>
            <a:xfrm>
              <a:off x="5739511" y="1663757"/>
              <a:ext cx="467360" cy="192069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4284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4A096A0-E25A-4425-7E82-255917BD7C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CH"/>
              <a:t>Budget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4983FB-C29B-A1D2-F089-F7DA7F5947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Insert </a:t>
            </a:r>
            <a:r>
              <a:rPr lang="fr-CH" err="1"/>
              <a:t>detailed</a:t>
            </a:r>
            <a:r>
              <a:rPr lang="fr-CH"/>
              <a:t> </a:t>
            </a:r>
            <a:r>
              <a:rPr lang="fr-CH" err="1"/>
              <a:t>costing</a:t>
            </a:r>
            <a:r>
              <a:rPr lang="fr-CH"/>
              <a:t>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Merci de partager le budget détaillé du projet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D73F21-8634-468B-D1B5-F9B4C45A7E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Pricing details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D3511-951C-ADAD-E879-96756BF1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27400DDE-F975-4085-3E73-0D00304A6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38A390B6-1B18-FCA1-E152-5D308A056874}"/>
              </a:ext>
            </a:extLst>
          </p:cNvPr>
          <p:cNvGrpSpPr/>
          <p:nvPr/>
        </p:nvGrpSpPr>
        <p:grpSpPr>
          <a:xfrm>
            <a:off x="5894366" y="3512699"/>
            <a:ext cx="3552825" cy="1920696"/>
            <a:chOff x="5739511" y="1663757"/>
            <a:chExt cx="3552825" cy="1920696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0D44C49-895A-DE5D-4F01-A6591D4B3F8D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The budget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co-built</a:t>
              </a:r>
              <a:r>
                <a:rPr lang="fr-FR" sz="1200">
                  <a:solidFill>
                    <a:srgbClr val="336699"/>
                  </a:solidFill>
                </a:rPr>
                <a:t> by all </a:t>
              </a:r>
              <a:r>
                <a:rPr lang="fr-FR" sz="1200" err="1">
                  <a:solidFill>
                    <a:srgbClr val="336699"/>
                  </a:solidFill>
                </a:rPr>
                <a:t>bid</a:t>
              </a:r>
              <a:r>
                <a:rPr lang="fr-FR" sz="1200">
                  <a:solidFill>
                    <a:srgbClr val="336699"/>
                  </a:solidFill>
                </a:rPr>
                <a:t> parties </a:t>
              </a:r>
              <a:r>
                <a:rPr lang="fr-FR" sz="1200" err="1">
                  <a:solidFill>
                    <a:srgbClr val="336699"/>
                  </a:solidFill>
                </a:rPr>
                <a:t>based</a:t>
              </a:r>
              <a:r>
                <a:rPr lang="fr-FR" sz="1200">
                  <a:solidFill>
                    <a:srgbClr val="336699"/>
                  </a:solidFill>
                </a:rPr>
                <a:t> on </a:t>
              </a:r>
              <a:r>
                <a:rPr lang="fr-FR" sz="1200" err="1">
                  <a:solidFill>
                    <a:srgbClr val="336699"/>
                  </a:solidFill>
                </a:rPr>
                <a:t>shared</a:t>
              </a:r>
              <a:r>
                <a:rPr lang="fr-FR" sz="1200">
                  <a:solidFill>
                    <a:srgbClr val="336699"/>
                  </a:solidFill>
                </a:rPr>
                <a:t> and </a:t>
              </a:r>
              <a:r>
                <a:rPr lang="fr-FR" sz="1200" err="1">
                  <a:solidFill>
                    <a:srgbClr val="336699"/>
                  </a:solidFill>
                </a:rPr>
                <a:t>agreed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assumptions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defined</a:t>
              </a:r>
              <a:r>
                <a:rPr lang="fr-FR" sz="1200">
                  <a:solidFill>
                    <a:srgbClr val="336699"/>
                  </a:solidFill>
                </a:rPr>
                <a:t> all </a:t>
              </a:r>
              <a:r>
                <a:rPr lang="fr-FR" sz="1200" err="1">
                  <a:solidFill>
                    <a:srgbClr val="336699"/>
                  </a:solidFill>
                </a:rPr>
                <a:t>together.It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validated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through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peer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reviews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Le budget est coconstruit avec les parties prenantes du </a:t>
              </a:r>
              <a:r>
                <a:rPr lang="fr-FR" sz="1100" b="0" i="1" err="1">
                  <a:solidFill>
                    <a:srgbClr val="336699"/>
                  </a:solidFill>
                </a:rPr>
                <a:t>bid</a:t>
              </a:r>
              <a:r>
                <a:rPr lang="fr-FR" sz="1100" b="0" i="1">
                  <a:solidFill>
                    <a:srgbClr val="336699"/>
                  </a:solidFill>
                </a:rPr>
                <a:t> à partir d’hypothèses partagées at acceptées par toutes ces parties. Le budget est validé en revue de pairs.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AD0E19-B113-3E82-8067-814515199BC8}"/>
                </a:ext>
              </a:extLst>
            </p:cNvPr>
            <p:cNvSpPr/>
            <p:nvPr/>
          </p:nvSpPr>
          <p:spPr>
            <a:xfrm>
              <a:off x="5739511" y="1663757"/>
              <a:ext cx="467360" cy="192069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86BC664-95D8-1986-8918-11348D00806E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9FD9A7-7DD7-0821-5BAB-BCB9A4BC015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C1DF97-4230-7C2F-3112-75849E7B483D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0866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BF8650A-DA5A-BD68-99F7-CF3240C9A2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H" sz="2800"/>
              <a:t>Budget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1409DD-EEE5-035F-563F-7768428C04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Please complete the following data: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Please detail provisions:</a:t>
            </a:r>
          </a:p>
          <a:p>
            <a:endParaRPr lang="en-US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69B6EA-0F29-2D53-369E-07AC1A8A62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Pricing details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705C7F-BCAF-B584-6092-256AB42D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7F0BCE2E-98F4-2462-19CC-B855433C6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887154"/>
              </p:ext>
            </p:extLst>
          </p:nvPr>
        </p:nvGraphicFramePr>
        <p:xfrm>
          <a:off x="974041" y="1730019"/>
          <a:ext cx="10508729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4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221974317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273414980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1523529849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Project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Provisions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Negociation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Dev-Tu Ratio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Blended Rate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Target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Margin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Amounts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€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pic>
        <p:nvPicPr>
          <p:cNvPr id="7" name="Picture 28" descr="Solution - Icônes divers gratuites">
            <a:extLst>
              <a:ext uri="{FF2B5EF4-FFF2-40B4-BE49-F238E27FC236}">
                <a16:creationId xmlns:a16="http://schemas.microsoft.com/office/drawing/2014/main" id="{E944BD40-BF7B-6DAB-168C-AF9E9C2D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44E95CBA-E386-ACAC-49F8-1566A7A50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873818"/>
              </p:ext>
            </p:extLst>
          </p:nvPr>
        </p:nvGraphicFramePr>
        <p:xfrm>
          <a:off x="974037" y="3765565"/>
          <a:ext cx="6317458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084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Projects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Phases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€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#1 - Risks provision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#2 – Penalties provision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#3 - Index and inflation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#4 – Travels and expenses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EDE49553-E21F-8672-38AA-096BD5DC81A8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A81FCD-7F86-2FA7-7E22-691DEAAFE157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C2BD78-044F-1BBA-48C4-19B5D9731A3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FE51CC28-B9DE-E45B-DFB5-6F485FEFD4E4}"/>
              </a:ext>
            </a:extLst>
          </p:cNvPr>
          <p:cNvGrpSpPr/>
          <p:nvPr/>
        </p:nvGrpSpPr>
        <p:grpSpPr>
          <a:xfrm>
            <a:off x="7012809" y="3259055"/>
            <a:ext cx="3552825" cy="1397476"/>
            <a:chOff x="5739511" y="1663757"/>
            <a:chExt cx="3552825" cy="1397476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1657C4F9-1AB9-4C4B-6699-75B33F163A34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39747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200">
                  <a:solidFill>
                    <a:srgbClr val="336699"/>
                  </a:solidFill>
                </a:rPr>
                <a:t>Do not forget the inflation rate to be applied for projects straddling several years.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CH" sz="1100" b="0" i="1">
                  <a:solidFill>
                    <a:srgbClr val="336699"/>
                  </a:solidFill>
                </a:rPr>
                <a:t>Ne pas </a:t>
              </a:r>
              <a:r>
                <a:rPr lang="en-CH" sz="1100" b="0" i="1" err="1">
                  <a:solidFill>
                    <a:srgbClr val="336699"/>
                  </a:solidFill>
                </a:rPr>
                <a:t>oublier</a:t>
              </a:r>
              <a:r>
                <a:rPr lang="en-CH" sz="1100" b="0" i="1">
                  <a:solidFill>
                    <a:srgbClr val="336699"/>
                  </a:solidFill>
                </a:rPr>
                <a:t> de </a:t>
              </a:r>
              <a:r>
                <a:rPr lang="en-CH" sz="1100" b="0" i="1" err="1">
                  <a:solidFill>
                    <a:srgbClr val="336699"/>
                  </a:solidFill>
                </a:rPr>
                <a:t>répercuter</a:t>
              </a:r>
              <a:r>
                <a:rPr lang="en-CH" sz="1100" b="0" i="1">
                  <a:solidFill>
                    <a:srgbClr val="336699"/>
                  </a:solidFill>
                </a:rPr>
                <a:t> sur les </a:t>
              </a:r>
              <a:r>
                <a:rPr lang="en-CH" sz="1100" b="0" i="1" err="1">
                  <a:solidFill>
                    <a:srgbClr val="336699"/>
                  </a:solidFill>
                </a:rPr>
                <a:t>coûts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l’inflation</a:t>
              </a:r>
              <a:r>
                <a:rPr lang="en-CH" sz="1100" b="0" i="1">
                  <a:solidFill>
                    <a:srgbClr val="336699"/>
                  </a:solidFill>
                </a:rPr>
                <a:t> pour les </a:t>
              </a:r>
              <a:r>
                <a:rPr lang="en-CH" sz="1100" b="0" i="1" err="1">
                  <a:solidFill>
                    <a:srgbClr val="336699"/>
                  </a:solidFill>
                </a:rPr>
                <a:t>projets</a:t>
              </a:r>
              <a:r>
                <a:rPr lang="en-CH" sz="1100" b="0" i="1">
                  <a:solidFill>
                    <a:srgbClr val="336699"/>
                  </a:solidFill>
                </a:rPr>
                <a:t> à cheval sur </a:t>
              </a:r>
              <a:r>
                <a:rPr lang="en-CH" sz="1100" b="0" i="1" err="1">
                  <a:solidFill>
                    <a:srgbClr val="336699"/>
                  </a:solidFill>
                </a:rPr>
                <a:t>plusieurs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années</a:t>
              </a:r>
              <a:r>
                <a:rPr lang="en-CH" sz="1100" b="0" i="1">
                  <a:solidFill>
                    <a:srgbClr val="336699"/>
                  </a:solidFill>
                </a:rPr>
                <a:t> </a:t>
              </a:r>
              <a:r>
                <a:rPr lang="en-CH" sz="1100" b="0" i="1" err="1">
                  <a:solidFill>
                    <a:srgbClr val="336699"/>
                  </a:solidFill>
                </a:rPr>
                <a:t>calendaires</a:t>
              </a:r>
              <a:r>
                <a:rPr lang="en-CH" sz="1100" b="0" i="1">
                  <a:solidFill>
                    <a:srgbClr val="336699"/>
                  </a:solidFill>
                </a:rPr>
                <a:t>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98388C-B7EC-BA30-FD08-49FD2B78FD05}"/>
                </a:ext>
              </a:extLst>
            </p:cNvPr>
            <p:cNvSpPr/>
            <p:nvPr/>
          </p:nvSpPr>
          <p:spPr>
            <a:xfrm>
              <a:off x="5739511" y="1663757"/>
              <a:ext cx="467360" cy="139747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3200" i="1" err="1">
                  <a:latin typeface="Bodoni MT Black" panose="02070A03080606020203" pitchFamily="18" charset="0"/>
                </a:rPr>
                <a:t>i</a:t>
              </a:r>
              <a:endParaRPr lang="en-CH" sz="3200" i="1">
                <a:latin typeface="Bodoni MT Black" panose="02070A030806060202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2565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43E2AB-7582-A67A-5880-4215ED4F6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SQLI </a:t>
            </a:r>
            <a:r>
              <a:rPr lang="fr-FR" sz="2800" err="1"/>
              <a:t>Response</a:t>
            </a:r>
            <a:r>
              <a:rPr lang="fr-FR" sz="2800"/>
              <a:t> Timeline</a:t>
            </a:r>
            <a:endParaRPr lang="en-US" sz="280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5AB81-F801-FA04-6347-1D8E7906C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ea typeface="Inter-Bold" panose="02000803000000020004" pitchFamily="50" charset="0"/>
                <a:cs typeface="Inter-Bold" panose="02000803000000020004" pitchFamily="50" charset="0"/>
              </a:rPr>
              <a:t>share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ea typeface="Inter-Bold" panose="02000803000000020004" pitchFamily="50" charset="0"/>
                <a:cs typeface="Inter-Bold" panose="02000803000000020004" pitchFamily="50" charset="0"/>
              </a:rPr>
              <a:t> next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ea typeface="Inter-Bold" panose="02000803000000020004" pitchFamily="50" charset="0"/>
                <a:cs typeface="Inter-Bold" panose="02000803000000020004" pitchFamily="50" charset="0"/>
              </a:rPr>
              <a:t>steps</a:t>
            </a:r>
            <a:endParaRPr kumimoji="0" lang="fr-FR" sz="1800" b="0" i="0" u="none" strike="noStrike" kern="1200" cap="all" spc="0" normalizeH="0" baseline="0" noProof="0">
              <a:ln>
                <a:noFill/>
              </a:ln>
              <a:solidFill>
                <a:srgbClr val="006452"/>
              </a:solidFill>
              <a:effectLst/>
              <a:uLnTx/>
              <a:uFillTx/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7B502-4B4F-4746-DC0F-5C041E7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803C266-2E99-EE12-D50B-494D51F7CE40}"/>
              </a:ext>
            </a:extLst>
          </p:cNvPr>
          <p:cNvCxnSpPr>
            <a:cxnSpLocks/>
          </p:cNvCxnSpPr>
          <p:nvPr/>
        </p:nvCxnSpPr>
        <p:spPr>
          <a:xfrm>
            <a:off x="1870669" y="3471405"/>
            <a:ext cx="7122612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9EA00B4-8CC5-25C6-7F26-F4E6C7E33109}"/>
              </a:ext>
            </a:extLst>
          </p:cNvPr>
          <p:cNvSpPr/>
          <p:nvPr/>
        </p:nvSpPr>
        <p:spPr>
          <a:xfrm rot="2700000">
            <a:off x="1488006" y="3312901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78D63-CE49-A6E0-77E9-7A5EEC1DFBEF}"/>
              </a:ext>
            </a:extLst>
          </p:cNvPr>
          <p:cNvSpPr/>
          <p:nvPr/>
        </p:nvSpPr>
        <p:spPr>
          <a:xfrm rot="2700000">
            <a:off x="10573122" y="3312901"/>
            <a:ext cx="317008" cy="317008"/>
          </a:xfrm>
          <a:prstGeom prst="rect">
            <a:avLst/>
          </a:prstGeom>
          <a:solidFill>
            <a:srgbClr val="9A25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410A087D-5E18-4E44-6F91-646579F48369}"/>
              </a:ext>
            </a:extLst>
          </p:cNvPr>
          <p:cNvGrpSpPr/>
          <p:nvPr/>
        </p:nvGrpSpPr>
        <p:grpSpPr>
          <a:xfrm>
            <a:off x="3002192" y="3312901"/>
            <a:ext cx="317008" cy="317008"/>
            <a:chOff x="3428566" y="2322613"/>
            <a:chExt cx="317008" cy="3170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84427-68F7-ED54-B7E0-1A481BC2017A}"/>
                </a:ext>
              </a:extLst>
            </p:cNvPr>
            <p:cNvSpPr/>
            <p:nvPr/>
          </p:nvSpPr>
          <p:spPr>
            <a:xfrm rot="2700000">
              <a:off x="3428566" y="2322613"/>
              <a:ext cx="317008" cy="317008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FDD439-A1CA-219C-6FB8-2D0D61FA8112}"/>
                </a:ext>
              </a:extLst>
            </p:cNvPr>
            <p:cNvSpPr/>
            <p:nvPr/>
          </p:nvSpPr>
          <p:spPr>
            <a:xfrm rot="2700000">
              <a:off x="3486751" y="2380798"/>
              <a:ext cx="200638" cy="2006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12" name="Tableau 3">
            <a:extLst>
              <a:ext uri="{FF2B5EF4-FFF2-40B4-BE49-F238E27FC236}">
                <a16:creationId xmlns:a16="http://schemas.microsoft.com/office/drawing/2014/main" id="{169841F1-DBBC-57AE-0BD5-FB63F5A3E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77412"/>
              </p:ext>
            </p:extLst>
          </p:nvPr>
        </p:nvGraphicFramePr>
        <p:xfrm>
          <a:off x="9885101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Oral pitch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2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3" name="Tableau 3">
            <a:extLst>
              <a:ext uri="{FF2B5EF4-FFF2-40B4-BE49-F238E27FC236}">
                <a16:creationId xmlns:a16="http://schemas.microsoft.com/office/drawing/2014/main" id="{08E2D2EB-AF20-AA1C-7CB9-0B2DA84D2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34892"/>
              </p:ext>
            </p:extLst>
          </p:nvPr>
        </p:nvGraphicFramePr>
        <p:xfrm>
          <a:off x="3828357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Solution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Review</a:t>
                      </a:r>
                      <a:endParaRPr lang="fr-FR" sz="1200" b="1" kern="1200">
                        <a:solidFill>
                          <a:schemeClr val="lt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4" name="Tableau 3">
            <a:extLst>
              <a:ext uri="{FF2B5EF4-FFF2-40B4-BE49-F238E27FC236}">
                <a16:creationId xmlns:a16="http://schemas.microsoft.com/office/drawing/2014/main" id="{339DD109-3209-8082-AAA9-1FAA1472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44199"/>
              </p:ext>
            </p:extLst>
          </p:nvPr>
        </p:nvGraphicFramePr>
        <p:xfrm>
          <a:off x="799985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Go/No Go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8F2F7C4-4F72-34B2-22C6-EC4D86BB42EE}"/>
              </a:ext>
            </a:extLst>
          </p:cNvPr>
          <p:cNvSpPr/>
          <p:nvPr/>
        </p:nvSpPr>
        <p:spPr>
          <a:xfrm rot="2700000">
            <a:off x="4516378" y="3312900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6" name="Tableau 3">
            <a:extLst>
              <a:ext uri="{FF2B5EF4-FFF2-40B4-BE49-F238E27FC236}">
                <a16:creationId xmlns:a16="http://schemas.microsoft.com/office/drawing/2014/main" id="{15F94626-ABEF-DCC5-2353-4FB9F56F0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94666"/>
              </p:ext>
            </p:extLst>
          </p:nvPr>
        </p:nvGraphicFramePr>
        <p:xfrm>
          <a:off x="2314171" y="3837436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Delivery Visa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76AD8C5-57DC-5C61-A633-35D6866B4B1F}"/>
              </a:ext>
            </a:extLst>
          </p:cNvPr>
          <p:cNvSpPr/>
          <p:nvPr/>
        </p:nvSpPr>
        <p:spPr>
          <a:xfrm rot="2700000">
            <a:off x="7544750" y="3312901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2" name="Tableau 3">
            <a:extLst>
              <a:ext uri="{FF2B5EF4-FFF2-40B4-BE49-F238E27FC236}">
                <a16:creationId xmlns:a16="http://schemas.microsoft.com/office/drawing/2014/main" id="{DFB60E17-5D91-3B62-4C10-DC363B9AB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86688"/>
              </p:ext>
            </p:extLst>
          </p:nvPr>
        </p:nvGraphicFramePr>
        <p:xfrm>
          <a:off x="6856729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Deal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Review</a:t>
                      </a: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 (DAR)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23" name="Tableau 3">
            <a:extLst>
              <a:ext uri="{FF2B5EF4-FFF2-40B4-BE49-F238E27FC236}">
                <a16:creationId xmlns:a16="http://schemas.microsoft.com/office/drawing/2014/main" id="{C35D963F-110C-1BB9-FB33-07763D1C7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978978"/>
              </p:ext>
            </p:extLst>
          </p:nvPr>
        </p:nvGraphicFramePr>
        <p:xfrm>
          <a:off x="8370915" y="3837436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Proposal</a:t>
                      </a: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/>
                          <a:ea typeface="+mn-ea"/>
                          <a:cs typeface="+mn-cs"/>
                        </a:rPr>
                        <a:t>Sending</a:t>
                      </a:r>
                      <a:endParaRPr lang="fr-FR" sz="1200" b="1" kern="1200">
                        <a:solidFill>
                          <a:schemeClr val="lt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2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pSp>
        <p:nvGrpSpPr>
          <p:cNvPr id="24" name="Groupe 23">
            <a:extLst>
              <a:ext uri="{FF2B5EF4-FFF2-40B4-BE49-F238E27FC236}">
                <a16:creationId xmlns:a16="http://schemas.microsoft.com/office/drawing/2014/main" id="{DF12B442-B358-AD84-82AF-BDDA17B0B567}"/>
              </a:ext>
            </a:extLst>
          </p:cNvPr>
          <p:cNvGrpSpPr/>
          <p:nvPr/>
        </p:nvGrpSpPr>
        <p:grpSpPr>
          <a:xfrm>
            <a:off x="9058936" y="3312901"/>
            <a:ext cx="317008" cy="317008"/>
            <a:chOff x="3428566" y="2322613"/>
            <a:chExt cx="317008" cy="3170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8E742C-D51C-C31E-6B39-6986F33E7009}"/>
                </a:ext>
              </a:extLst>
            </p:cNvPr>
            <p:cNvSpPr/>
            <p:nvPr/>
          </p:nvSpPr>
          <p:spPr>
            <a:xfrm rot="2700000">
              <a:off x="3428566" y="2322613"/>
              <a:ext cx="317008" cy="317008"/>
            </a:xfrm>
            <a:prstGeom prst="rect">
              <a:avLst/>
            </a:prstGeom>
            <a:solidFill>
              <a:srgbClr val="9A25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57655C-F31C-FB7E-B596-5F428D5A4ADA}"/>
                </a:ext>
              </a:extLst>
            </p:cNvPr>
            <p:cNvSpPr/>
            <p:nvPr/>
          </p:nvSpPr>
          <p:spPr>
            <a:xfrm rot="2700000">
              <a:off x="3486751" y="2380798"/>
              <a:ext cx="200638" cy="2006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6C3139E4-2CF7-E4D3-B164-293D2590D57B}"/>
              </a:ext>
            </a:extLst>
          </p:cNvPr>
          <p:cNvCxnSpPr>
            <a:cxnSpLocks/>
          </p:cNvCxnSpPr>
          <p:nvPr/>
        </p:nvCxnSpPr>
        <p:spPr>
          <a:xfrm>
            <a:off x="9441599" y="3471405"/>
            <a:ext cx="1065868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8" descr="Solution - Icônes divers gratuites">
            <a:extLst>
              <a:ext uri="{FF2B5EF4-FFF2-40B4-BE49-F238E27FC236}">
                <a16:creationId xmlns:a16="http://schemas.microsoft.com/office/drawing/2014/main" id="{715B0A2D-8C90-65D3-84F9-01AA5BC0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e 28">
            <a:extLst>
              <a:ext uri="{FF2B5EF4-FFF2-40B4-BE49-F238E27FC236}">
                <a16:creationId xmlns:a16="http://schemas.microsoft.com/office/drawing/2014/main" id="{D7C3858E-1E21-8EC5-D064-301A7BD684D8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36B005C-1440-C298-2AA5-8DC356538FF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2DE5544-8625-3590-93B1-CCA2C946A81D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696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2683963-E954-1B28-F123-C1C20D3E86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0336" y="3299381"/>
            <a:ext cx="8941607" cy="564679"/>
          </a:xfrm>
        </p:spPr>
        <p:txBody>
          <a:bodyPr anchor="ctr"/>
          <a:lstStyle/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DELIVERY </a:t>
            </a:r>
            <a:r>
              <a:rPr lang="en-US" sz="2800"/>
              <a:t>VISA</a:t>
            </a:r>
            <a:endParaRPr lang="en-US" sz="2400">
              <a:solidFill>
                <a:srgbClr val="9AC0C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4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43E2AB-7582-A67A-5880-4215ED4F6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DELIVERY MANAGEMENT VISA</a:t>
            </a:r>
            <a:endParaRPr lang="en-US" sz="280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5AB81-F801-FA04-6347-1D8E7906C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solutioning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pre-validated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before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the Meeting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7B502-4B4F-4746-DC0F-5C041E7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E50EC4C5-ECA0-C731-D0F0-3FCD43B17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26212134-D9C7-4C61-8148-26CAB32CE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81011"/>
              </p:ext>
            </p:extLst>
          </p:nvPr>
        </p:nvGraphicFramePr>
        <p:xfrm>
          <a:off x="974046" y="1641771"/>
          <a:ext cx="10508724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95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973957">
                  <a:extLst>
                    <a:ext uri="{9D8B030D-6E8A-4147-A177-3AD203B41FA5}">
                      <a16:colId xmlns:a16="http://schemas.microsoft.com/office/drawing/2014/main" val="2294339233"/>
                    </a:ext>
                  </a:extLst>
                </a:gridCol>
                <a:gridCol w="656081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Project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Reserves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Delivery Manager(s)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238722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Date DM Visa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7950183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Decision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Taken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7356658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AE0CC4D2-45EC-8A82-4BF2-CC7A571EE660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52CCE2-9751-A86D-453D-ECFC9E9E0E2D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618A5A-23CA-D3DE-5CE1-A31E063D0600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022C2FD-F9CA-22DD-9A2F-A869A7C6198D}"/>
              </a:ext>
            </a:extLst>
          </p:cNvPr>
          <p:cNvGrpSpPr/>
          <p:nvPr/>
        </p:nvGrpSpPr>
        <p:grpSpPr>
          <a:xfrm>
            <a:off x="7446442" y="2644139"/>
            <a:ext cx="3552825" cy="1920696"/>
            <a:chOff x="5739511" y="1663757"/>
            <a:chExt cx="3552825" cy="1920696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AC94D06-0DAB-01CB-1BAE-92FBA14F63FD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92069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This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a </a:t>
              </a:r>
              <a:r>
                <a:rPr lang="fr-FR" sz="1200" err="1">
                  <a:solidFill>
                    <a:srgbClr val="336699"/>
                  </a:solidFill>
                </a:rPr>
                <a:t>mandatory</a:t>
              </a:r>
              <a:r>
                <a:rPr lang="fr-FR" sz="1200">
                  <a:solidFill>
                    <a:srgbClr val="336699"/>
                  </a:solidFill>
                </a:rPr>
                <a:t> check </a:t>
              </a:r>
              <a:r>
                <a:rPr lang="fr-FR" sz="1200" err="1">
                  <a:solidFill>
                    <a:srgbClr val="336699"/>
                  </a:solidFill>
                </a:rPr>
                <a:t>before</a:t>
              </a:r>
              <a:r>
                <a:rPr lang="fr-FR" sz="1200">
                  <a:solidFill>
                    <a:srgbClr val="336699"/>
                  </a:solidFill>
                </a:rPr>
                <a:t> the Solution </a:t>
              </a:r>
              <a:r>
                <a:rPr lang="fr-FR" sz="1200" err="1">
                  <a:solidFill>
                    <a:srgbClr val="336699"/>
                  </a:solidFill>
                </a:rPr>
                <a:t>Review</a:t>
              </a:r>
              <a:r>
                <a:rPr lang="fr-FR" sz="1200">
                  <a:solidFill>
                    <a:srgbClr val="336699"/>
                  </a:solidFill>
                </a:rPr>
                <a:t> meeting, </a:t>
              </a:r>
              <a:r>
                <a:rPr lang="fr-FR" sz="1200" err="1">
                  <a:solidFill>
                    <a:srgbClr val="336699"/>
                  </a:solidFill>
                </a:rPr>
                <a:t>please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schedule</a:t>
              </a:r>
              <a:r>
                <a:rPr lang="fr-FR" sz="1200">
                  <a:solidFill>
                    <a:srgbClr val="336699"/>
                  </a:solidFill>
                </a:rPr>
                <a:t> the DM visa the </a:t>
              </a:r>
              <a:r>
                <a:rPr lang="fr-FR" sz="1200" err="1">
                  <a:solidFill>
                    <a:srgbClr val="336699"/>
                  </a:solidFill>
                </a:rPr>
                <a:t>earliest</a:t>
              </a:r>
              <a:r>
                <a:rPr lang="fr-FR" sz="1200">
                  <a:solidFill>
                    <a:srgbClr val="336699"/>
                  </a:solidFill>
                </a:rPr>
                <a:t> as possible.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Cette revue par le DM du </a:t>
              </a:r>
              <a:r>
                <a:rPr lang="fr-FR" sz="1100" b="0" i="1" err="1">
                  <a:solidFill>
                    <a:srgbClr val="336699"/>
                  </a:solidFill>
                </a:rPr>
                <a:t>Solutioning</a:t>
              </a:r>
              <a:r>
                <a:rPr lang="fr-FR" sz="1100" b="0" i="1">
                  <a:solidFill>
                    <a:srgbClr val="336699"/>
                  </a:solidFill>
                </a:rPr>
                <a:t> est obligatoire pour que l’instance de Solution </a:t>
              </a:r>
              <a:r>
                <a:rPr lang="fr-FR" sz="1100" b="0" i="1" err="1">
                  <a:solidFill>
                    <a:srgbClr val="336699"/>
                  </a:solidFill>
                </a:rPr>
                <a:t>Review</a:t>
              </a:r>
              <a:r>
                <a:rPr lang="fr-FR" sz="1100" b="0" i="1">
                  <a:solidFill>
                    <a:srgbClr val="336699"/>
                  </a:solidFill>
                </a:rPr>
                <a:t> puisse avoir lieu. Merci de la planifier au plus tôt dans l’agenda du DM référent.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DE4FF2-9B07-F42E-37E7-6987D21B8CEA}"/>
                </a:ext>
              </a:extLst>
            </p:cNvPr>
            <p:cNvSpPr/>
            <p:nvPr/>
          </p:nvSpPr>
          <p:spPr>
            <a:xfrm>
              <a:off x="5739511" y="1663757"/>
              <a:ext cx="467360" cy="1920695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362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629358C-5CB3-3204-42EC-685547B780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0336" y="3299381"/>
            <a:ext cx="8941607" cy="564679"/>
          </a:xfrm>
        </p:spPr>
        <p:txBody>
          <a:bodyPr anchor="ctr"/>
          <a:lstStyle/>
          <a:p>
            <a:r>
              <a:rPr lang="en-US" sz="2800"/>
              <a:t>SOLUTION REVIEW </a:t>
            </a:r>
            <a:r>
              <a:rPr lang="en-US" sz="2400">
                <a:latin typeface="Poppins Light" panose="00000400000000000000" pitchFamily="2" charset="0"/>
                <a:cs typeface="Poppins Light" panose="00000400000000000000" pitchFamily="2" charset="0"/>
              </a:rPr>
              <a:t>meeting</a:t>
            </a:r>
            <a:endParaRPr lang="en-US" sz="2400">
              <a:solidFill>
                <a:srgbClr val="9AC0C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13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43E2AB-7582-A67A-5880-4215ED4F6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EXEC SUMMARY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5199CD-AD42-EA00-344A-78AABD327F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5AB81-F801-FA04-6347-1D8E7906C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Summary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of the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solutioning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7B502-4B4F-4746-DC0F-5C041E7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pic>
        <p:nvPicPr>
          <p:cNvPr id="6" name="Picture 28" descr="Solution - Icônes divers gratuites">
            <a:extLst>
              <a:ext uri="{FF2B5EF4-FFF2-40B4-BE49-F238E27FC236}">
                <a16:creationId xmlns:a16="http://schemas.microsoft.com/office/drawing/2014/main" id="{162DCD5F-3060-3062-4A11-2FEB6F08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E96747DE-E37F-3BCE-315F-7539A126A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615986"/>
              </p:ext>
            </p:extLst>
          </p:nvPr>
        </p:nvGraphicFramePr>
        <p:xfrm>
          <a:off x="974046" y="1369503"/>
          <a:ext cx="10508724" cy="199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95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973957">
                  <a:extLst>
                    <a:ext uri="{9D8B030D-6E8A-4147-A177-3AD203B41FA5}">
                      <a16:colId xmlns:a16="http://schemas.microsoft.com/office/drawing/2014/main" val="2294339233"/>
                    </a:ext>
                  </a:extLst>
                </a:gridCol>
                <a:gridCol w="656081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Project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Solution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Summary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Project ID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Bid Team briefing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238722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Bid Manager(s)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48178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Deadline for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Sending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950183"/>
                  </a:ext>
                </a:extLst>
              </a:tr>
            </a:tbl>
          </a:graphicData>
        </a:graphic>
      </p:graphicFrame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2BC85A85-17FC-6B0D-159D-0C8916FD1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24059"/>
              </p:ext>
            </p:extLst>
          </p:nvPr>
        </p:nvGraphicFramePr>
        <p:xfrm>
          <a:off x="974041" y="5223253"/>
          <a:ext cx="10508729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4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221974317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273414980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1523529849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Project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Provisions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Negociation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Dev-Tu Ratio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Blended Rate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Target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Margin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Amount €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FA59A56D-D75E-8393-38E7-B5B9C800D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80875"/>
              </p:ext>
            </p:extLst>
          </p:nvPr>
        </p:nvGraphicFramePr>
        <p:xfrm>
          <a:off x="974040" y="3495818"/>
          <a:ext cx="3371656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Schedule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Start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Duration Days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End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353848"/>
                  </a:ext>
                </a:extLst>
              </a:tr>
            </a:tbl>
          </a:graphicData>
        </a:graphic>
      </p:graphicFrame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4118879C-75E2-B996-D9BF-B6473A944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65293"/>
              </p:ext>
            </p:extLst>
          </p:nvPr>
        </p:nvGraphicFramePr>
        <p:xfrm>
          <a:off x="4542575" y="3495818"/>
          <a:ext cx="3371656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People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Locations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Total Man-Days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1" name="Tableau 3">
            <a:extLst>
              <a:ext uri="{FF2B5EF4-FFF2-40B4-BE49-F238E27FC236}">
                <a16:creationId xmlns:a16="http://schemas.microsoft.com/office/drawing/2014/main" id="{719BC285-BC68-4254-A1DB-3F35D0645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74409"/>
              </p:ext>
            </p:extLst>
          </p:nvPr>
        </p:nvGraphicFramePr>
        <p:xfrm>
          <a:off x="8111114" y="3495818"/>
          <a:ext cx="3371656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Checks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Security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261321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Legal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Delivery Manager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353848"/>
                  </a:ext>
                </a:extLst>
              </a:tr>
            </a:tbl>
          </a:graphicData>
        </a:graphic>
      </p:graphicFrame>
      <p:grpSp>
        <p:nvGrpSpPr>
          <p:cNvPr id="12" name="Groupe 11">
            <a:extLst>
              <a:ext uri="{FF2B5EF4-FFF2-40B4-BE49-F238E27FC236}">
                <a16:creationId xmlns:a16="http://schemas.microsoft.com/office/drawing/2014/main" id="{78CE2537-5E64-080B-D856-426E0DC7C874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136AD0-40F9-D09E-8080-9511EEC2744A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57FC15-E09B-0D69-4335-DF2E96E5FD68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221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43E2AB-7582-A67A-5880-4215ED4F6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solutioning</a:t>
            </a:r>
            <a:r>
              <a:rPr lang="fr-FR" sz="2800"/>
              <a:t> DECISION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5199CD-AD42-EA00-344A-78AABD327F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1599" y="2849731"/>
            <a:ext cx="10508729" cy="3436769"/>
          </a:xfrm>
        </p:spPr>
        <p:txBody>
          <a:bodyPr>
            <a:normAutofit/>
          </a:bodyPr>
          <a:lstStyle/>
          <a:p>
            <a:r>
              <a:rPr lang="fr-CH" err="1"/>
              <a:t>Decision</a:t>
            </a:r>
            <a:r>
              <a:rPr lang="fr-CH"/>
              <a:t> made BY: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Décision prise et par quel décideur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 err="1"/>
              <a:t>CONDITions</a:t>
            </a:r>
            <a:r>
              <a:rPr lang="fr-CH"/>
              <a:t> TO CONFIRM the </a:t>
            </a:r>
            <a:r>
              <a:rPr lang="fr-CH" err="1"/>
              <a:t>decision</a:t>
            </a:r>
            <a:r>
              <a:rPr lang="fr-CH"/>
              <a:t> (IF ANY):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Actions à entreprendre pour confirmer la décision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IF OK, </a:t>
            </a:r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specify</a:t>
            </a:r>
            <a:r>
              <a:rPr lang="fr-CH"/>
              <a:t> the Deal </a:t>
            </a:r>
            <a:r>
              <a:rPr lang="fr-CH" err="1"/>
              <a:t>Review</a:t>
            </a:r>
            <a:r>
              <a:rPr lang="fr-CH"/>
              <a:t> date:</a:t>
            </a:r>
          </a:p>
          <a:p>
            <a:pPr marL="216000" lvl="1" indent="0">
              <a:buNone/>
            </a:pP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Si la décision est OK, merci de préciser la date de la Deal </a:t>
            </a:r>
            <a:r>
              <a:rPr lang="fr-CH" err="1">
                <a:solidFill>
                  <a:schemeClr val="accent2">
                    <a:lumMod val="75000"/>
                  </a:schemeClr>
                </a:solidFill>
              </a:rPr>
              <a:t>Review</a:t>
            </a:r>
            <a:r>
              <a:rPr lang="fr-CH">
                <a:solidFill>
                  <a:schemeClr val="accent2">
                    <a:lumMod val="75000"/>
                  </a:schemeClr>
                </a:solidFill>
              </a:rPr>
              <a:t> :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5AB81-F801-FA04-6347-1D8E7906C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SOLUTION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validated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 SOLUTION REVIEW meeting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7B502-4B4F-4746-DC0F-5C041E7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DE3E7D6-F423-D5CC-8227-F9AA46476D63}"/>
              </a:ext>
            </a:extLst>
          </p:cNvPr>
          <p:cNvGrpSpPr/>
          <p:nvPr/>
        </p:nvGrpSpPr>
        <p:grpSpPr>
          <a:xfrm>
            <a:off x="4019929" y="1768741"/>
            <a:ext cx="1908686" cy="725864"/>
            <a:chOff x="4019929" y="1768741"/>
            <a:chExt cx="1908686" cy="725864"/>
          </a:xfrm>
          <a:effectLst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E0908C-3357-B72C-3BF2-11135B391B51}"/>
                </a:ext>
              </a:extLst>
            </p:cNvPr>
            <p:cNvSpPr/>
            <p:nvPr/>
          </p:nvSpPr>
          <p:spPr>
            <a:xfrm>
              <a:off x="4019929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F8A642"/>
                </a:gs>
                <a:gs pos="75000">
                  <a:srgbClr val="F2650E"/>
                </a:gs>
              </a:gsLst>
              <a:lin ang="2700000" scaled="0"/>
            </a:gradFill>
            <a:ln w="12700">
              <a:solidFill>
                <a:srgbClr val="F265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/>
                <a:t>OK WITH CONDITIONS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A8108C-CF02-84FE-6E2A-C8ECF93CA153}"/>
                </a:ext>
              </a:extLst>
            </p:cNvPr>
            <p:cNvSpPr/>
            <p:nvPr/>
          </p:nvSpPr>
          <p:spPr>
            <a:xfrm>
              <a:off x="4019929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5DAB54-7F88-F6E3-5940-F98032BCF90E}"/>
                </a:ext>
              </a:extLst>
            </p:cNvPr>
            <p:cNvSpPr/>
            <p:nvPr/>
          </p:nvSpPr>
          <p:spPr>
            <a:xfrm>
              <a:off x="4019929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F265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46D7C74-A224-C7CD-45EA-DACE73D58D30}"/>
              </a:ext>
            </a:extLst>
          </p:cNvPr>
          <p:cNvGrpSpPr/>
          <p:nvPr/>
        </p:nvGrpSpPr>
        <p:grpSpPr>
          <a:xfrm>
            <a:off x="6847126" y="1768741"/>
            <a:ext cx="1908686" cy="725864"/>
            <a:chOff x="6847126" y="1768741"/>
            <a:chExt cx="1908686" cy="725864"/>
          </a:xfrm>
          <a:effectLst/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5CDC35-E559-E98A-2066-6C0768B86EFF}"/>
                </a:ext>
              </a:extLst>
            </p:cNvPr>
            <p:cNvSpPr/>
            <p:nvPr/>
          </p:nvSpPr>
          <p:spPr>
            <a:xfrm>
              <a:off x="6847126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75000">
                  <a:srgbClr val="C00000"/>
                </a:gs>
              </a:gsLst>
              <a:lin ang="2700000" scaled="0"/>
            </a:gra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/>
                <a:t>KO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5FFE392-A269-3B3C-2A8C-5689061BD5BF}"/>
                </a:ext>
              </a:extLst>
            </p:cNvPr>
            <p:cNvSpPr/>
            <p:nvPr/>
          </p:nvSpPr>
          <p:spPr>
            <a:xfrm>
              <a:off x="6847126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40E6FD1-B492-4BD7-9D0E-675D0D343163}"/>
                </a:ext>
              </a:extLst>
            </p:cNvPr>
            <p:cNvSpPr/>
            <p:nvPr/>
          </p:nvSpPr>
          <p:spPr>
            <a:xfrm>
              <a:off x="6847126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47E98AA-52BA-EC4B-20A8-43361CD6DBB9}"/>
              </a:ext>
            </a:extLst>
          </p:cNvPr>
          <p:cNvSpPr/>
          <p:nvPr/>
        </p:nvSpPr>
        <p:spPr>
          <a:xfrm>
            <a:off x="1085076" y="1663756"/>
            <a:ext cx="2124000" cy="943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8" descr="Solution - Icônes divers gratuites">
            <a:extLst>
              <a:ext uri="{FF2B5EF4-FFF2-40B4-BE49-F238E27FC236}">
                <a16:creationId xmlns:a16="http://schemas.microsoft.com/office/drawing/2014/main" id="{DE4C52A2-3B4E-9131-CFCF-A86734C8B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6EE63778-D530-0E66-3DAD-0DE4D331DD38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0605CE-A3B7-9C1A-A04B-6B89C07B7881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20D205-BF0F-82C1-D0F2-DFC0162A27F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BDC8B2D-1C00-8366-2E78-6283302CC2AA}"/>
              </a:ext>
            </a:extLst>
          </p:cNvPr>
          <p:cNvGrpSpPr/>
          <p:nvPr/>
        </p:nvGrpSpPr>
        <p:grpSpPr>
          <a:xfrm>
            <a:off x="6298420" y="3779580"/>
            <a:ext cx="3552825" cy="2089974"/>
            <a:chOff x="5739511" y="1663757"/>
            <a:chExt cx="3552825" cy="2089974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6380353-CD8D-B792-B17B-971872BA8F4B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2089973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err="1">
                  <a:solidFill>
                    <a:srgbClr val="336699"/>
                  </a:solidFill>
                </a:rPr>
                <a:t>Decision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making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reason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why</a:t>
              </a:r>
              <a:r>
                <a:rPr lang="fr-FR" sz="1200">
                  <a:solidFill>
                    <a:srgbClr val="336699"/>
                  </a:solidFill>
                </a:rPr>
                <a:t> of the Solution </a:t>
              </a:r>
              <a:r>
                <a:rPr lang="fr-FR" sz="1200" err="1">
                  <a:solidFill>
                    <a:srgbClr val="336699"/>
                  </a:solidFill>
                </a:rPr>
                <a:t>Review</a:t>
              </a:r>
              <a:r>
                <a:rPr lang="fr-FR" sz="1200">
                  <a:solidFill>
                    <a:srgbClr val="336699"/>
                  </a:solidFill>
                </a:rPr>
                <a:t> meeting. </a:t>
              </a:r>
              <a:r>
                <a:rPr lang="fr-FR" sz="1200" err="1">
                  <a:solidFill>
                    <a:srgbClr val="336699"/>
                  </a:solidFill>
                </a:rPr>
                <a:t>Decision</a:t>
              </a:r>
              <a:r>
                <a:rPr lang="fr-FR" sz="1200">
                  <a:solidFill>
                    <a:srgbClr val="336699"/>
                  </a:solidFill>
                </a:rPr>
                <a:t> has to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made </a:t>
              </a:r>
              <a:r>
                <a:rPr lang="fr-FR" sz="1200" err="1">
                  <a:solidFill>
                    <a:srgbClr val="336699"/>
                  </a:solidFill>
                </a:rPr>
                <a:t>according</a:t>
              </a:r>
              <a:r>
                <a:rPr lang="fr-FR" sz="1200">
                  <a:solidFill>
                    <a:srgbClr val="336699"/>
                  </a:solidFill>
                </a:rPr>
                <a:t> to the </a:t>
              </a:r>
              <a:r>
                <a:rPr lang="fr-FR" sz="1200" err="1">
                  <a:solidFill>
                    <a:srgbClr val="336699"/>
                  </a:solidFill>
                </a:rPr>
                <a:t>governance</a:t>
              </a:r>
              <a:r>
                <a:rPr lang="fr-FR" sz="1200">
                  <a:solidFill>
                    <a:srgbClr val="336699"/>
                  </a:solidFill>
                </a:rPr>
                <a:t> matrix and </a:t>
              </a:r>
              <a:r>
                <a:rPr lang="fr-FR" sz="1200" err="1">
                  <a:solidFill>
                    <a:srgbClr val="336699"/>
                  </a:solidFill>
                </a:rPr>
                <a:t>written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here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La raison d’être de l’instance de Solution </a:t>
              </a:r>
              <a:r>
                <a:rPr lang="fr-FR" sz="1100" b="0" i="1" err="1">
                  <a:solidFill>
                    <a:srgbClr val="336699"/>
                  </a:solidFill>
                </a:rPr>
                <a:t>Review</a:t>
              </a:r>
              <a:r>
                <a:rPr lang="fr-FR" sz="1100" b="0" i="1">
                  <a:solidFill>
                    <a:srgbClr val="336699"/>
                  </a:solidFill>
                </a:rPr>
                <a:t> est de prendre une décision. Elle doit être prise par la bonne personne, telle que spécifiée dans la matrice de gouvernance de la zone, et elle doit être consignée ici.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B3E680-9374-2B15-684E-851483573CA0}"/>
                </a:ext>
              </a:extLst>
            </p:cNvPr>
            <p:cNvSpPr/>
            <p:nvPr/>
          </p:nvSpPr>
          <p:spPr>
            <a:xfrm>
              <a:off x="5739511" y="1663757"/>
              <a:ext cx="467360" cy="2089973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5D2727C-ACCD-74EA-7DF6-1D69BA8DD9F1}"/>
              </a:ext>
            </a:extLst>
          </p:cNvPr>
          <p:cNvGrpSpPr/>
          <p:nvPr/>
        </p:nvGrpSpPr>
        <p:grpSpPr>
          <a:xfrm>
            <a:off x="1192733" y="1768741"/>
            <a:ext cx="1908686" cy="725864"/>
            <a:chOff x="1192733" y="1768741"/>
            <a:chExt cx="1908686" cy="725864"/>
          </a:xfrm>
          <a:effectLst/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4A02F4-6145-020E-2B4E-F97839D9228C}"/>
                </a:ext>
              </a:extLst>
            </p:cNvPr>
            <p:cNvSpPr/>
            <p:nvPr/>
          </p:nvSpPr>
          <p:spPr>
            <a:xfrm>
              <a:off x="1192733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75000">
                  <a:schemeClr val="accent3"/>
                </a:gs>
              </a:gsLst>
              <a:lin ang="2700000" scaled="0"/>
            </a:gradFill>
            <a:ln w="12700">
              <a:solidFill>
                <a:srgbClr val="0064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/>
                <a:t>OK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B309E14-534B-DC33-943D-472A61C5E1D4}"/>
                </a:ext>
              </a:extLst>
            </p:cNvPr>
            <p:cNvSpPr/>
            <p:nvPr/>
          </p:nvSpPr>
          <p:spPr>
            <a:xfrm>
              <a:off x="1192733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1D70BC7-C9FF-5113-CF8B-CA07D22570B2}"/>
                </a:ext>
              </a:extLst>
            </p:cNvPr>
            <p:cNvSpPr/>
            <p:nvPr/>
          </p:nvSpPr>
          <p:spPr>
            <a:xfrm>
              <a:off x="1192733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0064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66992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F94712-039E-0E51-915F-82D32D6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DFC04F-98DD-B0BB-CEE9-E5EB949FD642}"/>
              </a:ext>
            </a:extLst>
          </p:cNvPr>
          <p:cNvSpPr txBox="1">
            <a:spLocks/>
          </p:cNvSpPr>
          <p:nvPr/>
        </p:nvSpPr>
        <p:spPr>
          <a:xfrm>
            <a:off x="386499" y="609034"/>
            <a:ext cx="11314964" cy="5301571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Inter-Bold" panose="0200080300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Courier New" panose="02070309020205020404" pitchFamily="49" charset="0"/>
              <a:buChar char="o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>
                <a:solidFill>
                  <a:srgbClr val="E3B3BC"/>
                </a:solidFill>
              </a:rPr>
              <a:t>THANK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>
                <a:solidFill>
                  <a:srgbClr val="EDD3D7"/>
                </a:solidFill>
              </a:rPr>
              <a:t>YOU </a:t>
            </a:r>
            <a:r>
              <a:rPr lang="fr-FR">
                <a:solidFill>
                  <a:srgbClr val="CD3166"/>
                </a:solidFill>
              </a:rPr>
              <a:t>_</a:t>
            </a:r>
            <a:endParaRPr lang="en-US">
              <a:solidFill>
                <a:srgbClr val="CD3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57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5"/>
    </mc:Choice>
    <mc:Fallback xmlns="">
      <p:transition spd="slow" advTm="2255"/>
    </mc:Fallback>
  </mc:AlternateContent>
  <p:extLst>
    <p:ext uri="{3A86A75C-4F4B-4683-9AE1-C65F6400EC91}">
      <p14:laserTraceLst xmlns:p14="http://schemas.microsoft.com/office/powerpoint/2010/main">
        <p14:tracePtLst>
          <p14:tracePt t="664" x="3884613" y="6589713"/>
          <p14:tracePt t="693" x="4706938" y="6110288"/>
          <p14:tracePt t="694" x="5135563" y="5859463"/>
          <p14:tracePt t="710" x="5891213" y="5321300"/>
          <p14:tracePt t="727" x="6427788" y="4767263"/>
          <p14:tracePt t="745" x="7232650" y="3500438"/>
          <p14:tracePt t="763" x="7618413" y="2786063"/>
          <p14:tracePt t="778" x="7669213" y="2114550"/>
          <p14:tracePt t="795" x="7643813" y="1703388"/>
          <p14:tracePt t="810" x="7375525" y="881063"/>
          <p14:tracePt t="814" x="7216775" y="487363"/>
          <p14:tracePt t="826" x="7056438" y="134938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Custom 66">
      <a:dk1>
        <a:sysClr val="windowText" lastClr="000000"/>
      </a:dk1>
      <a:lt1>
        <a:srgbClr val="FFFFFF"/>
      </a:lt1>
      <a:dk2>
        <a:srgbClr val="333333"/>
      </a:dk2>
      <a:lt2>
        <a:srgbClr val="F2F2F2"/>
      </a:lt2>
      <a:accent1>
        <a:srgbClr val="CD3166"/>
      </a:accent1>
      <a:accent2>
        <a:srgbClr val="722F85"/>
      </a:accent2>
      <a:accent3>
        <a:srgbClr val="006452"/>
      </a:accent3>
      <a:accent4>
        <a:srgbClr val="FBE737"/>
      </a:accent4>
      <a:accent5>
        <a:srgbClr val="9FDDD2"/>
      </a:accent5>
      <a:accent6>
        <a:srgbClr val="FDF289"/>
      </a:accent6>
      <a:hlink>
        <a:srgbClr val="0563C1"/>
      </a:hlink>
      <a:folHlink>
        <a:srgbClr val="954F72"/>
      </a:folHlink>
    </a:clrScheme>
    <a:fontScheme name="Personnalisé 1">
      <a:majorFont>
        <a:latin typeface="Poppins Black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934CAAA66CE4C82F8A8E67DEA9A31" ma:contentTypeVersion="10" ma:contentTypeDescription="Crée un document." ma:contentTypeScope="" ma:versionID="a1901902ea3706eee8631a1dac18f6b8">
  <xsd:schema xmlns:xsd="http://www.w3.org/2001/XMLSchema" xmlns:xs="http://www.w3.org/2001/XMLSchema" xmlns:p="http://schemas.microsoft.com/office/2006/metadata/properties" xmlns:ns2="36b7182d-6ea8-4bcd-9390-01801081868c" xmlns:ns3="cb88fff6-4d2f-42b3-99d4-021ffed37268" targetNamespace="http://schemas.microsoft.com/office/2006/metadata/properties" ma:root="true" ma:fieldsID="8a2b132daad93e19a7b785582d49deb1" ns2:_="" ns3:_="">
    <xsd:import namespace="36b7182d-6ea8-4bcd-9390-01801081868c"/>
    <xsd:import namespace="cb88fff6-4d2f-42b3-99d4-021ffed37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7182d-6ea8-4bcd-9390-0180108186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8fff6-4d2f-42b3-99d4-021ffed372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b88fff6-4d2f-42b3-99d4-021ffed3726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4EA0CC3-9717-4746-BF46-6F904385A3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9AF26D-70B3-4259-A8DF-F7E173201D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b7182d-6ea8-4bcd-9390-01801081868c"/>
    <ds:schemaRef ds:uri="cb88fff6-4d2f-42b3-99d4-021ffed372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E42BEC-553D-47DB-B4B5-7B8AEEE958EE}">
  <ds:schemaRefs>
    <ds:schemaRef ds:uri="36b7182d-6ea8-4bcd-9390-01801081868c"/>
    <ds:schemaRef ds:uri="cb88fff6-4d2f-42b3-99d4-021ffed372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3357</Words>
  <Application>Microsoft Office PowerPoint</Application>
  <PresentationFormat>Grand écran</PresentationFormat>
  <Paragraphs>489</Paragraphs>
  <Slides>31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Process V4 Solution Review</dc:title>
  <dc:subject/>
  <dc:creator>Prezman</dc:creator>
  <cp:keywords/>
  <dc:description/>
  <cp:lastModifiedBy>Alexandre Julia</cp:lastModifiedBy>
  <cp:revision>5</cp:revision>
  <cp:lastPrinted>2022-06-02T10:34:44Z</cp:lastPrinted>
  <dcterms:created xsi:type="dcterms:W3CDTF">2021-03-10T15:54:48Z</dcterms:created>
  <dcterms:modified xsi:type="dcterms:W3CDTF">2026-05-27T08:55:32Z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0x01010080D934CAAA66CE4C82F8A8E67DEA9A31</vt:lpwstr>
  </property>
  <property fmtid="{D5CDD505-2E9C-101B-9397-08002B2CF9AE}" pid="3" name="Order">
    <vt:r8>1900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MediaServiceImageTags">
    <vt:lpwstr/>
  </property>
</Properties>
</file>